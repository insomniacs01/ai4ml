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1" r:id="rId5"/>
    <p:sldId id="262" r:id="rId6"/>
    <p:sldId id="327" r:id="rId7"/>
    <p:sldId id="321" r:id="rId8"/>
    <p:sldId id="328" r:id="rId9"/>
    <p:sldId id="291" r:id="rId10"/>
    <p:sldId id="334" r:id="rId11"/>
    <p:sldId id="295" r:id="rId12"/>
    <p:sldId id="286" r:id="rId13"/>
    <p:sldId id="300" r:id="rId14"/>
    <p:sldId id="296" r:id="rId15"/>
    <p:sldId id="332" r:id="rId16"/>
    <p:sldId id="31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282"/>
    <a:srgbClr val="06276F"/>
    <a:srgbClr val="E7E5E5"/>
    <a:srgbClr val="FF97CB"/>
    <a:srgbClr val="FFCA9B"/>
    <a:srgbClr val="FE9891"/>
    <a:srgbClr val="C9E4FF"/>
    <a:srgbClr val="FFFECB"/>
    <a:srgbClr val="CECE7A"/>
    <a:srgbClr val="FF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672" y="4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助教老师晚上好，我们组设计并实现了一个实验室设备管理系统，支持三类用户。</a:t>
            </a:r>
            <a:endParaRPr lang="zh-CN" altLang="en-US" dirty="0"/>
          </a:p>
          <a:p>
            <a:r>
              <a:rPr lang="zh-CN" altLang="en-US" dirty="0"/>
              <a:t>普通用户可以进行设备预约、使用与设备报修，</a:t>
            </a:r>
            <a:endParaRPr lang="zh-CN" altLang="en-US" dirty="0"/>
          </a:p>
          <a:p>
            <a:r>
              <a:rPr lang="zh-CN" altLang="en-US" dirty="0"/>
              <a:t>实验室管理员负责预约审批与设备管理、分发维修任务。</a:t>
            </a:r>
            <a:endParaRPr lang="zh-CN" altLang="en-US" dirty="0"/>
          </a:p>
          <a:p>
            <a:r>
              <a:rPr lang="zh-CN" altLang="en-US" dirty="0"/>
              <a:t>维修人员负责设备维修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我将从以下五个部分进行介绍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第一部分</a:t>
            </a:r>
            <a:r>
              <a:rPr lang="en-US" altLang="zh-CN"/>
              <a:t> </a:t>
            </a:r>
            <a:r>
              <a:rPr lang="zh-CN" altLang="en-US"/>
              <a:t>分工与比例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我们进行了四种索引优化</a:t>
            </a:r>
            <a:endParaRPr lang="zh-CN" altLang="en-US"/>
          </a:p>
          <a:p>
            <a:r>
              <a:rPr lang="zh-CN" altLang="en-US"/>
              <a:t>第一：为所有外键关系建立索引，提升联合查询效率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第二、针对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这种高频查询字段，我们单独建立了索引，提升</a:t>
            </a:r>
            <a:r>
              <a:rPr lang="zh-CN" altLang="en-US"/>
              <a:t>加载速度；</a:t>
            </a:r>
            <a:endParaRPr lang="zh-CN" altLang="en-US"/>
          </a:p>
          <a:p>
            <a:r>
              <a:rPr lang="zh-CN" altLang="en-US"/>
              <a:t>第三、对业务主键采用唯一索引，提升单记录查询效率</a:t>
            </a:r>
            <a:endParaRPr lang="zh-CN" altLang="en-US"/>
          </a:p>
          <a:p>
            <a:r>
              <a:rPr lang="zh-CN" altLang="en-US"/>
              <a:t>第四、针对常用的组合查询条件，我们还建立了</a:t>
            </a:r>
            <a:r>
              <a:rPr lang="en-US" altLang="zh-CN"/>
              <a:t>“</a:t>
            </a:r>
            <a:r>
              <a:rPr lang="zh-CN" altLang="en-US"/>
              <a:t>联合唯一索引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第二部分</a:t>
            </a:r>
            <a:r>
              <a:rPr lang="en-US" altLang="zh-CN"/>
              <a:t> </a:t>
            </a:r>
            <a:r>
              <a:rPr lang="zh-CN" altLang="en-US"/>
              <a:t>数据库设计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我们的后端采用</a:t>
            </a:r>
            <a:r>
              <a:rPr lang="en-US" altLang="zh-CN"/>
              <a:t> Flask </a:t>
            </a:r>
            <a:r>
              <a:rPr lang="zh-CN" altLang="en-US"/>
              <a:t>框架</a:t>
            </a:r>
            <a:r>
              <a:rPr lang="en-US" altLang="zh-CN"/>
              <a:t> </a:t>
            </a:r>
            <a:r>
              <a:rPr lang="zh-CN" altLang="en-US"/>
              <a:t>进行开发。</a:t>
            </a:r>
            <a:endParaRPr lang="en-US" altLang="zh-CN"/>
          </a:p>
          <a:p>
            <a:r>
              <a:rPr lang="zh-CN" altLang="en-US"/>
              <a:t>在架构上，我们通过路由层对外提供规范的</a:t>
            </a:r>
            <a:r>
              <a:rPr lang="en-US" altLang="zh-CN"/>
              <a:t> API </a:t>
            </a:r>
            <a:r>
              <a:rPr lang="zh-CN" altLang="en-US"/>
              <a:t>接口；</a:t>
            </a:r>
            <a:endParaRPr lang="zh-CN" altLang="en-US"/>
          </a:p>
          <a:p>
            <a:r>
              <a:rPr lang="zh-CN" altLang="en-US"/>
              <a:t>数据访问层使用原生</a:t>
            </a:r>
            <a:r>
              <a:rPr lang="en-US" altLang="zh-CN"/>
              <a:t> SQL </a:t>
            </a:r>
            <a:r>
              <a:rPr lang="zh-CN" altLang="en-US"/>
              <a:t>与数据库进行交互；</a:t>
            </a:r>
            <a:endParaRPr lang="zh-CN" altLang="en-US"/>
          </a:p>
          <a:p>
            <a:r>
              <a:rPr lang="zh-CN" altLang="en-US"/>
              <a:t>同时对通用业务模块进行封装。</a:t>
            </a:r>
            <a:endParaRPr lang="en-US" altLang="zh-CN"/>
          </a:p>
          <a:p>
            <a:r>
              <a:rPr lang="zh-CN" altLang="en-US"/>
              <a:t>采用了</a:t>
            </a:r>
            <a:r>
              <a:rPr lang="en-US" altLang="zh-CN"/>
              <a:t> JWT </a:t>
            </a:r>
            <a:r>
              <a:rPr lang="zh-CN" altLang="en-US"/>
              <a:t>令牌</a:t>
            </a:r>
            <a:r>
              <a:rPr lang="en-US" altLang="zh-CN"/>
              <a:t> </a:t>
            </a:r>
            <a:r>
              <a:rPr lang="zh-CN" altLang="en-US"/>
              <a:t>进行用户认证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第三部分</a:t>
            </a:r>
            <a:r>
              <a:rPr lang="en-US" altLang="zh-CN"/>
              <a:t> </a:t>
            </a:r>
            <a:r>
              <a:rPr lang="zh-CN" altLang="en-US"/>
              <a:t>系统架构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我们进行了四种索引优化</a:t>
            </a:r>
            <a:endParaRPr lang="zh-CN" altLang="en-US"/>
          </a:p>
          <a:p>
            <a:r>
              <a:rPr lang="zh-CN" altLang="en-US"/>
              <a:t>第一：为所有外键关系建立索引，提升联合查询效率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第二、针对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这种高频查询字段，我们单独建立了索引，提升</a:t>
            </a:r>
            <a:r>
              <a:rPr lang="zh-CN" altLang="en-US"/>
              <a:t>加载速度；</a:t>
            </a:r>
            <a:endParaRPr lang="zh-CN" altLang="en-US"/>
          </a:p>
          <a:p>
            <a:r>
              <a:rPr lang="zh-CN" altLang="en-US"/>
              <a:t>第三、对业务主键采用唯一索引，提升单记录查询效率</a:t>
            </a:r>
            <a:endParaRPr lang="zh-CN" altLang="en-US"/>
          </a:p>
          <a:p>
            <a:r>
              <a:rPr lang="zh-CN" altLang="en-US"/>
              <a:t>第四、针对常用的组合查询条件，我们还建立了</a:t>
            </a:r>
            <a:r>
              <a:rPr lang="en-US" altLang="zh-CN"/>
              <a:t>“</a:t>
            </a:r>
            <a:r>
              <a:rPr lang="zh-CN" altLang="en-US"/>
              <a:t>联合唯一索引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第四部分</a:t>
            </a:r>
            <a:r>
              <a:rPr lang="en-US" altLang="zh-CN"/>
              <a:t> </a:t>
            </a:r>
            <a:r>
              <a:rPr lang="zh-CN" altLang="en-US"/>
              <a:t>前后端实现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前端使用</a:t>
            </a:r>
            <a:r>
              <a:rPr lang="en-US" altLang="zh-CN"/>
              <a:t>Vue</a:t>
            </a:r>
            <a:r>
              <a:rPr lang="zh-CN" altLang="en-US"/>
              <a:t>框架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Vite</a:t>
            </a:r>
            <a:r>
              <a:rPr lang="zh-CN" altLang="en-US"/>
              <a:t>工具实现高效启动和热更新；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Element Plus</a:t>
            </a:r>
            <a:r>
              <a:rPr lang="zh-CN" altLang="en-US"/>
              <a:t>组件库构建页面，</a:t>
            </a:r>
            <a:endParaRPr lang="zh-CN" altLang="en-US"/>
          </a:p>
          <a:p>
            <a:r>
              <a:rPr lang="zh-CN" altLang="en-US"/>
              <a:t>通过</a:t>
            </a:r>
            <a:r>
              <a:rPr lang="en-US" altLang="zh-CN"/>
              <a:t>Axios</a:t>
            </a:r>
            <a:r>
              <a:rPr lang="zh-CN" altLang="en-US"/>
              <a:t>网络库与后端建立通信。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第五部分</a:t>
            </a:r>
            <a:r>
              <a:rPr lang="en-US" altLang="zh-CN"/>
              <a:t> </a:t>
            </a:r>
            <a:r>
              <a:rPr lang="zh-CN" altLang="en-US"/>
              <a:t>特色与亮点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我们进行了四种索引优化</a:t>
            </a:r>
            <a:endParaRPr lang="zh-CN" altLang="en-US"/>
          </a:p>
          <a:p>
            <a:r>
              <a:rPr lang="zh-CN" altLang="en-US"/>
              <a:t>第一：为所有外键关系建立索引，提升联合查询效率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第二、针对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这种高频查询字段，我们单独建立了索引，提升</a:t>
            </a:r>
            <a:r>
              <a:rPr lang="zh-CN" altLang="en-US"/>
              <a:t>加载速度；</a:t>
            </a:r>
            <a:endParaRPr lang="zh-CN" altLang="en-US"/>
          </a:p>
          <a:p>
            <a:r>
              <a:rPr lang="zh-CN" altLang="en-US"/>
              <a:t>第三、对业务主键采用唯一索引，提升单记录查询效率</a:t>
            </a:r>
            <a:endParaRPr lang="zh-CN" altLang="en-US"/>
          </a:p>
          <a:p>
            <a:r>
              <a:rPr lang="zh-CN" altLang="en-US"/>
              <a:t>第四、针对常用的组合查询条件，我们还建立了</a:t>
            </a:r>
            <a:r>
              <a:rPr lang="en-US" altLang="zh-CN"/>
              <a:t>“</a:t>
            </a:r>
            <a:r>
              <a:rPr lang="zh-CN" altLang="en-US"/>
              <a:t>联合唯一索引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我们进行了四种索引优化</a:t>
            </a:r>
            <a:endParaRPr lang="zh-CN" altLang="en-US"/>
          </a:p>
          <a:p>
            <a:r>
              <a:rPr lang="zh-CN" altLang="en-US"/>
              <a:t>第一：为所有外键关系建立索引，提升联合查询效率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第二、针对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这种高频查询字段，我们单独建立了索引，提升</a:t>
            </a:r>
            <a:r>
              <a:rPr lang="zh-CN" altLang="en-US"/>
              <a:t>加载速度；</a:t>
            </a:r>
            <a:endParaRPr lang="zh-CN" altLang="en-US"/>
          </a:p>
          <a:p>
            <a:r>
              <a:rPr lang="zh-CN" altLang="en-US"/>
              <a:t>第三、对业务主键采用唯一索引，提升单记录查询效率</a:t>
            </a:r>
            <a:endParaRPr lang="zh-CN" altLang="en-US"/>
          </a:p>
          <a:p>
            <a:r>
              <a:rPr lang="zh-CN" altLang="en-US"/>
              <a:t>第四、针对常用的组合查询条件，我们还建立了</a:t>
            </a:r>
            <a:r>
              <a:rPr lang="en-US" altLang="zh-CN"/>
              <a:t>“</a:t>
            </a:r>
            <a:r>
              <a:rPr lang="zh-CN" altLang="en-US"/>
              <a:t>联合唯一索引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汇报部分到此结束，下面由程斌同学进行系统演示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image" Target="../media/image8.png"/><Relationship Id="rId20" Type="http://schemas.openxmlformats.org/officeDocument/2006/relationships/image" Target="../media/image7.png"/><Relationship Id="rId2" Type="http://schemas.openxmlformats.org/officeDocument/2006/relationships/image" Target="../media/image5.jpeg"/><Relationship Id="rId19" Type="http://schemas.openxmlformats.org/officeDocument/2006/relationships/image" Target="../media/image6.png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2.xml"/><Relationship Id="rId2" Type="http://schemas.microsoft.com/office/2007/relationships/hdphoto" Target="../media/image10.wdp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2.xml"/><Relationship Id="rId2" Type="http://schemas.microsoft.com/office/2007/relationships/hdphoto" Target="../media/image10.wdp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3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4949825" y="5733415"/>
            <a:ext cx="2629535" cy="875665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4791075" y="5814060"/>
            <a:ext cx="2920365" cy="7016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组别：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MON-1-2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智算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”AI4ML </a:t>
            </a: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08203" y="429974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879975" y="9815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1400" b="1" dirty="0">
                  <a:solidFill>
                    <a:prstClr val="white"/>
                  </a:solidFill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44001" y="397693"/>
            <a:ext cx="6049548" cy="60495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0" r="16132"/>
          <a:stretch>
            <a:fillRect/>
          </a:stretch>
        </p:blipFill>
        <p:spPr>
          <a:xfrm>
            <a:off x="1" y="-1"/>
            <a:ext cx="6240014" cy="687298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19601" y="0"/>
            <a:ext cx="6259616" cy="6872990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1251" y="948678"/>
            <a:ext cx="3022484" cy="1350274"/>
            <a:chOff x="1283804" y="1236710"/>
            <a:chExt cx="3022484" cy="1350274"/>
          </a:xfrm>
        </p:grpSpPr>
        <p:sp>
          <p:nvSpPr>
            <p:cNvPr id="4" name="平行四边形 3"/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573792" y="1256225"/>
              <a:ext cx="2410259" cy="1330759"/>
              <a:chOff x="4874746" y="232424"/>
              <a:chExt cx="2410259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CONTENTS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5519934" y="968271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/>
            <p:cNvSpPr/>
            <p:nvPr>
              <p:custDataLst>
                <p:tags r:id="rId4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01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5528190" y="3239138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/>
            <p:cNvSpPr/>
            <p:nvPr>
              <p:custDataLst>
                <p:tags r:id="rId7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03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5520141" y="4437490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/>
            <p:cNvSpPr/>
            <p:nvPr>
              <p:custDataLst>
                <p:tags r:id="rId10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04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5528189" y="5635843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平行四边形 20"/>
            <p:cNvSpPr/>
            <p:nvPr>
              <p:custDataLst>
                <p:tags r:id="rId1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05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1" name="文本框 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404735" y="998855"/>
            <a:ext cx="24536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项目整体情况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6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404735" y="3277235"/>
            <a:ext cx="27266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本周执行情况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6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407910" y="4444365"/>
            <a:ext cx="1960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里程碑安排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6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407910" y="5647055"/>
            <a:ext cx="35794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团队分工与下周计划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13545" y="6447112"/>
            <a:ext cx="2093426" cy="334487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22"/>
            </p:custDataLst>
          </p:nvPr>
        </p:nvGrpSpPr>
        <p:grpSpPr>
          <a:xfrm>
            <a:off x="5528189" y="2118256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4" name="平行四边形 23"/>
            <p:cNvSpPr/>
            <p:nvPr>
              <p:custDataLst>
                <p:tags r:id="rId2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文本框 24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02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7" name="文本框 6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407910" y="2171700"/>
            <a:ext cx="31915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Alpha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版功能范围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项目整体情况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项目整体情况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1424868" y="1503786"/>
            <a:ext cx="2498818" cy="779295"/>
            <a:chOff x="1332270" y="3114731"/>
            <a:chExt cx="1915595" cy="597408"/>
          </a:xfrm>
          <a:solidFill>
            <a:srgbClr val="0675A0"/>
          </a:solidFill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332270" y="3114731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1474899" y="3260769"/>
              <a:ext cx="1674075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项目定位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4863508" y="1504421"/>
            <a:ext cx="2498818" cy="779295"/>
            <a:chOff x="5025923" y="2147212"/>
            <a:chExt cx="1915595" cy="597408"/>
          </a:xfrm>
        </p:grpSpPr>
        <p:sp>
          <p:nvSpPr>
            <p:cNvPr id="19" name="矩形 18"/>
            <p:cNvSpPr/>
            <p:nvPr>
              <p:custDataLst>
                <p:tags r:id="rId9"/>
              </p:custDataLst>
            </p:nvPr>
          </p:nvSpPr>
          <p:spPr>
            <a:xfrm>
              <a:off x="502592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0"/>
              </p:custDataLst>
            </p:nvPr>
          </p:nvSpPr>
          <p:spPr>
            <a:xfrm>
              <a:off x="5087746" y="2292763"/>
              <a:ext cx="1791392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三类用户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8301514" y="1504421"/>
            <a:ext cx="2498818" cy="779295"/>
            <a:chOff x="7140873" y="3115218"/>
            <a:chExt cx="1915595" cy="597408"/>
          </a:xfrm>
          <a:solidFill>
            <a:srgbClr val="C00000"/>
          </a:solidFill>
        </p:grpSpPr>
        <p:sp>
          <p:nvSpPr>
            <p:cNvPr id="22" name="矩形 21"/>
            <p:cNvSpPr/>
            <p:nvPr>
              <p:custDataLst>
                <p:tags r:id="rId12"/>
              </p:custDataLst>
            </p:nvPr>
          </p:nvSpPr>
          <p:spPr>
            <a:xfrm>
              <a:off x="7140873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1"/>
            <p:cNvSpPr txBox="1"/>
            <p:nvPr>
              <p:custDataLst>
                <p:tags r:id="rId13"/>
              </p:custDataLst>
            </p:nvPr>
          </p:nvSpPr>
          <p:spPr>
            <a:xfrm>
              <a:off x="7240178" y="3260769"/>
              <a:ext cx="1715939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当前阶段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矩形 26"/>
          <p:cNvSpPr/>
          <p:nvPr>
            <p:custDataLst>
              <p:tags r:id="rId14"/>
            </p:custDataLst>
          </p:nvPr>
        </p:nvSpPr>
        <p:spPr>
          <a:xfrm>
            <a:off x="1066165" y="2464435"/>
            <a:ext cx="319659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15"/>
            </p:custDataLst>
          </p:nvPr>
        </p:nvSpPr>
        <p:spPr>
          <a:xfrm>
            <a:off x="4610100" y="2464435"/>
            <a:ext cx="308864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16"/>
            </p:custDataLst>
          </p:nvPr>
        </p:nvSpPr>
        <p:spPr>
          <a:xfrm>
            <a:off x="8041640" y="2464435"/>
            <a:ext cx="309118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17"/>
            </p:custDataLst>
          </p:nvPr>
        </p:nvSpPr>
        <p:spPr>
          <a:xfrm>
            <a:off x="1313815" y="2560955"/>
            <a:ext cx="27139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面向教学与实验场景的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AI4ML 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低代码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零代码社区平台。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用户通过自然语言描述任务并上传数据，由多智能体协作自动完成数据分析、模型训练与结果输出，并支持管理员治理与工作流复用。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24"/>
          <p:cNvSpPr txBox="1"/>
          <p:nvPr>
            <p:custDataLst>
              <p:tags r:id="rId18"/>
            </p:custDataLst>
          </p:nvPr>
        </p:nvSpPr>
        <p:spPr>
          <a:xfrm>
            <a:off x="4764405" y="2464435"/>
            <a:ext cx="2775585" cy="5585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管理员：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平台运营与治理者，负责用户管理、资源配额、内容审核等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零基础用户：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非技术背景的业务人员，如学生、分析师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具备编程与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经验的专业人士，熟悉主流框架，能理解模型细节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24"/>
          <p:cNvSpPr txBox="1"/>
          <p:nvPr>
            <p:custDataLst>
              <p:tags r:id="rId19"/>
            </p:custDataLst>
          </p:nvPr>
        </p:nvSpPr>
        <p:spPr>
          <a:xfrm>
            <a:off x="8231505" y="2784475"/>
            <a:ext cx="269367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已完成需求梳理、技术调研与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范围收缩，明确了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开源底座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自研平台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的技术路线。本周具体成果包括三类用户需求重组、多个开源项目评估及首选底座筛选。下一步将进入底座本地验证与最小原型开发阶段。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Alpha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版功能范围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Alpha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版功能范围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4490" y="1073150"/>
            <a:ext cx="11513185" cy="5208270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8" name="图片 7" descr="alpha版范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75" y="1738630"/>
            <a:ext cx="11242675" cy="3743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本周执行情况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本周执行情况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1424868" y="1503786"/>
            <a:ext cx="2498818" cy="779295"/>
            <a:chOff x="1332270" y="3114731"/>
            <a:chExt cx="1915595" cy="597408"/>
          </a:xfrm>
          <a:solidFill>
            <a:srgbClr val="0675A0"/>
          </a:solidFill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332270" y="3114731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1474899" y="3260769"/>
              <a:ext cx="1674075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明确用户需求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4863508" y="1504421"/>
            <a:ext cx="2498818" cy="779295"/>
            <a:chOff x="5025923" y="2147212"/>
            <a:chExt cx="1915595" cy="597408"/>
          </a:xfrm>
        </p:grpSpPr>
        <p:sp>
          <p:nvSpPr>
            <p:cNvPr id="19" name="矩形 18"/>
            <p:cNvSpPr/>
            <p:nvPr>
              <p:custDataLst>
                <p:tags r:id="rId9"/>
              </p:custDataLst>
            </p:nvPr>
          </p:nvSpPr>
          <p:spPr>
            <a:xfrm>
              <a:off x="502592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0"/>
              </p:custDataLst>
            </p:nvPr>
          </p:nvSpPr>
          <p:spPr>
            <a:xfrm>
              <a:off x="5087746" y="2292763"/>
              <a:ext cx="1791392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技术调研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8301514" y="1504421"/>
            <a:ext cx="2498818" cy="779295"/>
            <a:chOff x="7140873" y="3115218"/>
            <a:chExt cx="1915595" cy="597408"/>
          </a:xfrm>
          <a:solidFill>
            <a:srgbClr val="C00000"/>
          </a:solidFill>
        </p:grpSpPr>
        <p:sp>
          <p:nvSpPr>
            <p:cNvPr id="22" name="矩形 21"/>
            <p:cNvSpPr/>
            <p:nvPr>
              <p:custDataLst>
                <p:tags r:id="rId12"/>
              </p:custDataLst>
            </p:nvPr>
          </p:nvSpPr>
          <p:spPr>
            <a:xfrm>
              <a:off x="7140873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1"/>
            <p:cNvSpPr txBox="1"/>
            <p:nvPr>
              <p:custDataLst>
                <p:tags r:id="rId13"/>
              </p:custDataLst>
            </p:nvPr>
          </p:nvSpPr>
          <p:spPr>
            <a:xfrm>
              <a:off x="7240178" y="3260769"/>
              <a:ext cx="1715939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技术路线决策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矩形 26"/>
          <p:cNvSpPr/>
          <p:nvPr>
            <p:custDataLst>
              <p:tags r:id="rId14"/>
            </p:custDataLst>
          </p:nvPr>
        </p:nvSpPr>
        <p:spPr>
          <a:xfrm>
            <a:off x="1066165" y="2464435"/>
            <a:ext cx="319659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15"/>
            </p:custDataLst>
          </p:nvPr>
        </p:nvSpPr>
        <p:spPr>
          <a:xfrm>
            <a:off x="4610100" y="2464435"/>
            <a:ext cx="308864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16"/>
            </p:custDataLst>
          </p:nvPr>
        </p:nvSpPr>
        <p:spPr>
          <a:xfrm>
            <a:off x="8041640" y="2464435"/>
            <a:ext cx="309118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17"/>
            </p:custDataLst>
          </p:nvPr>
        </p:nvSpPr>
        <p:spPr>
          <a:xfrm>
            <a:off x="1313815" y="2560955"/>
            <a:ext cx="27139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管理员：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权限与资源管控、内容审核、分类打标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零基础用户：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自然语言</a:t>
            </a:r>
            <a:r>
              <a:rPr lang="en-US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上传数据</a:t>
            </a:r>
            <a:r>
              <a:rPr lang="en-US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看进度</a:t>
            </a:r>
            <a:r>
              <a:rPr lang="en-US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得结果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人机协同、代码可查可改、工作流导出与复用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24"/>
          <p:cNvSpPr txBox="1"/>
          <p:nvPr>
            <p:custDataLst>
              <p:tags r:id="rId18"/>
            </p:custDataLst>
          </p:nvPr>
        </p:nvSpPr>
        <p:spPr>
          <a:xfrm>
            <a:off x="4764405" y="2464435"/>
            <a:ext cx="2775585" cy="5585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进行机器学习自动化的开源项目与论文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筛选标准：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公开可获取、具备实验自动化能力、与自然语言交互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多智能体相关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调研实例：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AutoGluon Assistant/MLZero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AIDE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AutoML-Agent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24"/>
          <p:cNvSpPr txBox="1"/>
          <p:nvPr>
            <p:custDataLst>
              <p:tags r:id="rId19"/>
            </p:custDataLst>
          </p:nvPr>
        </p:nvSpPr>
        <p:spPr>
          <a:xfrm>
            <a:off x="8250555" y="2745105"/>
            <a:ext cx="269367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核心策略：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开源实验内核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+ 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自研平台层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底座选择：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优先以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AutoGluon Assistant/MLZero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为底座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进度可视化：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</a:t>
            </a:r>
            <a:r>
              <a:rPr lang="en-US" altLang="zh-CN" sz="16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AIDE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里程碑安排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128395" y="859155"/>
            <a:ext cx="10123170" cy="5645785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前端实现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9" name="图片 8" descr="里程碑安排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325" y="923925"/>
            <a:ext cx="9130030" cy="5469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05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379855" y="3246755"/>
            <a:ext cx="7776210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团队分工与下周计划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团队分工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785495" y="1397000"/>
            <a:ext cx="10852150" cy="479933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6"/>
            </p:custDataLst>
          </p:nvPr>
        </p:nvSpPr>
        <p:spPr>
          <a:xfrm>
            <a:off x="1127760" y="1784985"/>
            <a:ext cx="76041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需求负责人</a:t>
            </a:r>
            <a:r>
              <a:rPr lang="zh-CN" altLang="en-US" sz="24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：王中颢</a:t>
            </a:r>
            <a:endParaRPr lang="zh-CN" altLang="en-US" sz="24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前端负责人</a:t>
            </a:r>
            <a:r>
              <a:rPr lang="zh-CN" altLang="en-US" sz="24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24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r>
              <a:rPr lang="en-US" altLang="zh-CN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/Agent</a:t>
            </a:r>
            <a:r>
              <a:rPr lang="zh-CN" altLang="en-US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集成负责人</a:t>
            </a:r>
            <a:r>
              <a:rPr lang="zh-CN" altLang="en-US" sz="24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24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</a:t>
            </a:r>
            <a:r>
              <a:rPr lang="en-US" altLang="zh-CN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测试负责人</a:t>
            </a:r>
            <a:r>
              <a:rPr lang="zh-CN" altLang="en-US" sz="24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en-US" altLang="zh-CN" sz="24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下周工作计划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785495" y="1397000"/>
            <a:ext cx="10852150" cy="479933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6"/>
            </p:custDataLst>
          </p:nvPr>
        </p:nvSpPr>
        <p:spPr>
          <a:xfrm>
            <a:off x="1165225" y="1651000"/>
            <a:ext cx="970597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200000"/>
              </a:lnSpc>
              <a:defRPr/>
            </a:pPr>
            <a:r>
              <a:rPr lang="en-US" altLang="zh-CN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底座最终选型与本地验证</a:t>
            </a:r>
            <a:endParaRPr lang="zh-CN" altLang="en-US" sz="32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200000"/>
              </a:lnSpc>
              <a:defRPr/>
            </a:pPr>
            <a:r>
              <a:rPr lang="en-US" altLang="zh-CN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输出系统架构图，搭建代码仓库</a:t>
            </a:r>
            <a:endParaRPr lang="zh-CN" altLang="en-US" sz="32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200000"/>
              </a:lnSpc>
              <a:defRPr/>
            </a:pPr>
            <a:r>
              <a:rPr lang="en-US" altLang="zh-CN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完成最小原型（任务输入</a:t>
            </a:r>
            <a:r>
              <a:rPr lang="en-US" altLang="zh-CN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上传</a:t>
            </a:r>
            <a:r>
              <a:rPr lang="en-US" altLang="zh-CN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任务创建）</a:t>
            </a:r>
            <a:endParaRPr lang="zh-CN" altLang="en-US" sz="32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200000"/>
              </a:lnSpc>
              <a:defRPr/>
            </a:pPr>
            <a:r>
              <a:rPr lang="en-US" altLang="zh-CN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细化</a:t>
            </a:r>
            <a:r>
              <a:rPr lang="en-US" altLang="zh-CN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zh-CN" altLang="en-US" sz="3200" kern="0" dirty="0">
                <a:solidFill>
                  <a:srgbClr val="0627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功能清单</a:t>
            </a:r>
            <a:endParaRPr lang="zh-CN" altLang="en-US" sz="32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45" y="116631"/>
            <a:ext cx="11809308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79975" y="11314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文本占位符 24"/>
          <p:cNvSpPr txBox="1"/>
          <p:nvPr/>
        </p:nvSpPr>
        <p:spPr>
          <a:xfrm>
            <a:off x="191347" y="2324320"/>
            <a:ext cx="11809308" cy="1415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汇报结束  感谢聆听</a:t>
            </a:r>
            <a:r>
              <a:rPr kumimoji="0" lang="zh-CN" altLang="en-US" sz="72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567608" y="3888438"/>
            <a:ext cx="69127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9657" y="4040776"/>
            <a:ext cx="8112685" cy="734387"/>
          </a:xfrm>
          <a:prstGeom prst="rect">
            <a:avLst/>
          </a:prstGeom>
        </p:spPr>
      </p:pic>
      <p:sp>
        <p:nvSpPr>
          <p:cNvPr id="2" name="平行四边形 1"/>
          <p:cNvSpPr/>
          <p:nvPr/>
        </p:nvSpPr>
        <p:spPr>
          <a:xfrm>
            <a:off x="4949825" y="5733415"/>
            <a:ext cx="2629535" cy="875665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占位符 30"/>
          <p:cNvSpPr txBox="1"/>
          <p:nvPr/>
        </p:nvSpPr>
        <p:spPr>
          <a:xfrm>
            <a:off x="4791075" y="5814060"/>
            <a:ext cx="2920365" cy="7016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组别：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MON-1-2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2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3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4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5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6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7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8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9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0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1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2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3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4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5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6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7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8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9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20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21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2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3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4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5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6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7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8.xml><?xml version="1.0" encoding="utf-8"?>
<p:tagLst xmlns:p="http://schemas.openxmlformats.org/presentationml/2006/main">
  <p:tag name="KSO_WM_DIAGRAM_VIRTUALLY_FRAME" val="{&quot;height&quot;:812.5486614173229,&quot;left&quot;:60.34425196850393,&quot;top&quot;:118.45,&quot;width&quot;:840.2671653543308}"/>
</p:tagLst>
</file>

<file path=ppt/tags/tag29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0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1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2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3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4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5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6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7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8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9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0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1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2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3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4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5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6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7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8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9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50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51.xml><?xml version="1.0" encoding="utf-8"?>
<p:tagLst xmlns:p="http://schemas.openxmlformats.org/presentationml/2006/main">
  <p:tag name="KSO_WM_DIAGRAM_VIRTUALLY_FRAME" val="{&quot;height&quot;:820.9986614173229,&quot;left&quot;:60.34425196850393,&quot;top&quot;:110,&quot;width&quot;:856.0057480314961}"/>
</p:tagLst>
</file>

<file path=ppt/tags/tag52.xml><?xml version="1.0" encoding="utf-8"?>
<p:tagLst xmlns:p="http://schemas.openxmlformats.org/presentationml/2006/main">
  <p:tag name="KSO_WM_DIAGRAM_VIRTUALLY_FRAME" val="{&quot;height&quot;:820.9986614173229,&quot;left&quot;:60.34425196850393,&quot;top&quot;:110,&quot;width&quot;:856.0057480314961}"/>
</p:tagLst>
</file>

<file path=ppt/tags/tag53.xml><?xml version="1.0" encoding="utf-8"?>
<p:tagLst xmlns:p="http://schemas.openxmlformats.org/presentationml/2006/main">
  <p:tag name="KSO_WM_DIAGRAM_VIRTUALLY_FRAME" val="{&quot;height&quot;:820.9986614173229,&quot;left&quot;:60.34425196850393,&quot;top&quot;:110,&quot;width&quot;:856.0057480314961}"/>
</p:tagLst>
</file>

<file path=ppt/tags/tag54.xml><?xml version="1.0" encoding="utf-8"?>
<p:tagLst xmlns:p="http://schemas.openxmlformats.org/presentationml/2006/main">
  <p:tag name="KSO_WM_DIAGRAM_VIRTUALLY_FRAME" val="{&quot;height&quot;:820.9986614173229,&quot;left&quot;:60.34425196850393,&quot;top&quot;:110,&quot;width&quot;:856.0057480314961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1143</Words>
  <Application>WPS 演示</Application>
  <PresentationFormat>宽屏</PresentationFormat>
  <Paragraphs>154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微软雅黑</vt:lpstr>
      <vt:lpstr>等线</vt:lpstr>
      <vt:lpstr>Arial</vt:lpstr>
      <vt:lpstr>Calibri</vt:lpstr>
      <vt:lpstr>Arial Black</vt:lpstr>
      <vt:lpstr>Calibri Light</vt:lpstr>
      <vt:lpstr>方正宋刻本秀楷简体</vt:lpstr>
      <vt:lpstr>方正兰亭黑_GBK</vt:lpstr>
      <vt:lpstr>Segoe UI Light 8</vt:lpstr>
      <vt:lpstr>Segoe UI</vt:lpstr>
      <vt:lpstr>Arial Unicode MS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王硕宇</cp:lastModifiedBy>
  <cp:revision>55</cp:revision>
  <dcterms:created xsi:type="dcterms:W3CDTF">2020-07-27T01:08:00Z</dcterms:created>
  <dcterms:modified xsi:type="dcterms:W3CDTF">2026-03-29T08:47:33Z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F047DB340CC445539317AE4EF28F5C8C_12</vt:lpwstr>
  </property>
  <property fmtid="{D5CDD505-2E9C-101B-9397-08002B2CF9AE}" pid="3" name="KSOProductBuildVer">
    <vt:lpwstr>2052-12.1.0.24034</vt:lpwstr>
  </property>
</Properties>
</file>