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package/2006/relationships/metadata/thumbnail" Target="docProps/thumbnail.jpeg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60" r:id="rId3"/>
    <p:sldId id="261" r:id="rId5"/>
    <p:sldId id="262" r:id="rId6"/>
    <p:sldId id="327" r:id="rId7"/>
    <p:sldId id="321" r:id="rId8"/>
    <p:sldId id="328" r:id="rId9"/>
    <p:sldId id="291" r:id="rId10"/>
    <p:sldId id="334" r:id="rId11"/>
    <p:sldId id="295" r:id="rId12"/>
    <p:sldId id="286" r:id="rId13"/>
    <p:sldId id="300" r:id="rId14"/>
    <p:sldId id="296" r:id="rId15"/>
    <p:sldId id="332" r:id="rId16"/>
    <p:sldId id="313" r:id="rId1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24282"/>
    <a:srgbClr val="06276F"/>
    <a:srgbClr val="E7E5E5"/>
    <a:srgbClr val="FF97CB"/>
    <a:srgbClr val="FFCA9B"/>
    <a:srgbClr val="FE9891"/>
    <a:srgbClr val="C9E4FF"/>
    <a:srgbClr val="FFFECB"/>
    <a:srgbClr val="CECE7A"/>
    <a:srgbClr val="FFFF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64" d="100"/>
          <a:sy n="64" d="100"/>
        </p:scale>
        <p:origin x="672" y="48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977C3-5D49-4AE3-94A3-4A850F7186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3FDB9-DDE0-4054-8528-4EF247FF799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助教老师晚上好，我们组设计并实现了一个实验室设备管理系统，支持三类用户。</a:t>
            </a:r>
            <a:endParaRPr lang="zh-CN" altLang="en-US" dirty="0"/>
          </a:p>
          <a:p>
            <a:r>
              <a:rPr lang="zh-CN" altLang="en-US" dirty="0"/>
              <a:t>普通用户可以进行设备预约、使用与设备报修，</a:t>
            </a:r>
            <a:endParaRPr lang="zh-CN" altLang="en-US" dirty="0"/>
          </a:p>
          <a:p>
            <a:r>
              <a:rPr lang="zh-CN" altLang="en-US" dirty="0"/>
              <a:t>实验室管理员负责预约审批与设备管理、分发维修任务。</a:t>
            </a:r>
            <a:endParaRPr lang="zh-CN" altLang="en-US" dirty="0"/>
          </a:p>
          <a:p>
            <a:r>
              <a:rPr lang="zh-CN" altLang="en-US" dirty="0"/>
              <a:t>维修人员负责设备维修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我将从以下五个部分进行介绍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第一部分</a:t>
            </a:r>
            <a:r>
              <a:rPr lang="en-US" altLang="zh-CN"/>
              <a:t> </a:t>
            </a:r>
            <a:r>
              <a:rPr lang="zh-CN" altLang="en-US"/>
              <a:t>分工与比例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我们进行了四种索引优化</a:t>
            </a:r>
            <a:endParaRPr lang="zh-CN" altLang="en-US"/>
          </a:p>
          <a:p>
            <a:r>
              <a:rPr lang="zh-CN" altLang="en-US"/>
              <a:t>第一：为所有外键关系建立索引，提升联合查询效率</a:t>
            </a:r>
            <a:endParaRPr lang="zh-CN" altLang="en-US"/>
          </a:p>
          <a:p>
            <a:r>
              <a:rPr lang="zh-CN" altLang="en-US">
                <a:sym typeface="+mn-ea"/>
              </a:rPr>
              <a:t>第二、针对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状态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这种高频查询字段，我们单独建立了索引，提升</a:t>
            </a:r>
            <a:r>
              <a:rPr lang="zh-CN" altLang="en-US"/>
              <a:t>加载速度；</a:t>
            </a:r>
            <a:endParaRPr lang="zh-CN" altLang="en-US"/>
          </a:p>
          <a:p>
            <a:r>
              <a:rPr lang="zh-CN" altLang="en-US"/>
              <a:t>第三、对业务主键采用唯一索引，提升单记录查询效率</a:t>
            </a:r>
            <a:endParaRPr lang="zh-CN" altLang="en-US"/>
          </a:p>
          <a:p>
            <a:r>
              <a:rPr lang="zh-CN" altLang="en-US"/>
              <a:t>第四、针对常用的组合查询条件，我们还建立了</a:t>
            </a:r>
            <a:r>
              <a:rPr lang="en-US" altLang="zh-CN"/>
              <a:t>“</a:t>
            </a:r>
            <a:r>
              <a:rPr lang="zh-CN" altLang="en-US"/>
              <a:t>联合唯一索引</a:t>
            </a:r>
            <a:r>
              <a:rPr lang="en-US" altLang="zh-CN"/>
              <a:t>”</a:t>
            </a:r>
            <a:endParaRPr lang="en-US" altLang="zh-C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第二部分</a:t>
            </a:r>
            <a:r>
              <a:rPr lang="en-US" altLang="zh-CN"/>
              <a:t> </a:t>
            </a:r>
            <a:r>
              <a:rPr lang="zh-CN" altLang="en-US"/>
              <a:t>数据库设计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我们的后端采用</a:t>
            </a:r>
            <a:r>
              <a:rPr lang="en-US" altLang="zh-CN"/>
              <a:t> Flask </a:t>
            </a:r>
            <a:r>
              <a:rPr lang="zh-CN" altLang="en-US"/>
              <a:t>框架</a:t>
            </a:r>
            <a:r>
              <a:rPr lang="en-US" altLang="zh-CN"/>
              <a:t> </a:t>
            </a:r>
            <a:r>
              <a:rPr lang="zh-CN" altLang="en-US"/>
              <a:t>进行开发。</a:t>
            </a:r>
            <a:endParaRPr lang="en-US" altLang="zh-CN"/>
          </a:p>
          <a:p>
            <a:r>
              <a:rPr lang="zh-CN" altLang="en-US"/>
              <a:t>在架构上，我们通过路由层对外提供规范的</a:t>
            </a:r>
            <a:r>
              <a:rPr lang="en-US" altLang="zh-CN"/>
              <a:t> API </a:t>
            </a:r>
            <a:r>
              <a:rPr lang="zh-CN" altLang="en-US"/>
              <a:t>接口；</a:t>
            </a:r>
            <a:endParaRPr lang="zh-CN" altLang="en-US"/>
          </a:p>
          <a:p>
            <a:r>
              <a:rPr lang="zh-CN" altLang="en-US"/>
              <a:t>数据访问层使用原生</a:t>
            </a:r>
            <a:r>
              <a:rPr lang="en-US" altLang="zh-CN"/>
              <a:t> SQL </a:t>
            </a:r>
            <a:r>
              <a:rPr lang="zh-CN" altLang="en-US"/>
              <a:t>与数据库进行交互；</a:t>
            </a:r>
            <a:endParaRPr lang="zh-CN" altLang="en-US"/>
          </a:p>
          <a:p>
            <a:r>
              <a:rPr lang="zh-CN" altLang="en-US"/>
              <a:t>同时对通用业务模块进行封装。</a:t>
            </a:r>
            <a:endParaRPr lang="en-US" altLang="zh-CN"/>
          </a:p>
          <a:p>
            <a:r>
              <a:rPr lang="zh-CN" altLang="en-US"/>
              <a:t>采用了</a:t>
            </a:r>
            <a:r>
              <a:rPr lang="en-US" altLang="zh-CN"/>
              <a:t> JWT </a:t>
            </a:r>
            <a:r>
              <a:rPr lang="zh-CN" altLang="en-US"/>
              <a:t>令牌</a:t>
            </a:r>
            <a:r>
              <a:rPr lang="en-US" altLang="zh-CN"/>
              <a:t> </a:t>
            </a:r>
            <a:r>
              <a:rPr lang="zh-CN" altLang="en-US"/>
              <a:t>进行用户认证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第三部分</a:t>
            </a:r>
            <a:r>
              <a:rPr lang="en-US" altLang="zh-CN"/>
              <a:t> </a:t>
            </a:r>
            <a:r>
              <a:rPr lang="zh-CN" altLang="en-US"/>
              <a:t>系统架构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我们进行了四种索引优化</a:t>
            </a:r>
            <a:endParaRPr lang="zh-CN" altLang="en-US"/>
          </a:p>
          <a:p>
            <a:r>
              <a:rPr lang="zh-CN" altLang="en-US"/>
              <a:t>第一：为所有外键关系建立索引，提升联合查询效率</a:t>
            </a:r>
            <a:endParaRPr lang="zh-CN" altLang="en-US"/>
          </a:p>
          <a:p>
            <a:r>
              <a:rPr lang="zh-CN" altLang="en-US">
                <a:sym typeface="+mn-ea"/>
              </a:rPr>
              <a:t>第二、针对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状态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这种高频查询字段，我们单独建立了索引，提升</a:t>
            </a:r>
            <a:r>
              <a:rPr lang="zh-CN" altLang="en-US"/>
              <a:t>加载速度；</a:t>
            </a:r>
            <a:endParaRPr lang="zh-CN" altLang="en-US"/>
          </a:p>
          <a:p>
            <a:r>
              <a:rPr lang="zh-CN" altLang="en-US"/>
              <a:t>第三、对业务主键采用唯一索引，提升单记录查询效率</a:t>
            </a:r>
            <a:endParaRPr lang="zh-CN" altLang="en-US"/>
          </a:p>
          <a:p>
            <a:r>
              <a:rPr lang="zh-CN" altLang="en-US"/>
              <a:t>第四、针对常用的组合查询条件，我们还建立了</a:t>
            </a:r>
            <a:r>
              <a:rPr lang="en-US" altLang="zh-CN"/>
              <a:t>“</a:t>
            </a:r>
            <a:r>
              <a:rPr lang="zh-CN" altLang="en-US"/>
              <a:t>联合唯一索引</a:t>
            </a:r>
            <a:r>
              <a:rPr lang="en-US" altLang="zh-CN"/>
              <a:t>”</a:t>
            </a:r>
            <a:endParaRPr lang="en-US" altLang="zh-C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第四部分</a:t>
            </a:r>
            <a:r>
              <a:rPr lang="en-US" altLang="zh-CN"/>
              <a:t> </a:t>
            </a:r>
            <a:r>
              <a:rPr lang="zh-CN" altLang="en-US"/>
              <a:t>前后端实现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前端使用</a:t>
            </a:r>
            <a:r>
              <a:rPr lang="en-US" altLang="zh-CN"/>
              <a:t>Vue</a:t>
            </a:r>
            <a:r>
              <a:rPr lang="zh-CN" altLang="en-US"/>
              <a:t>框架</a:t>
            </a:r>
            <a:endParaRPr lang="zh-CN" altLang="en-US"/>
          </a:p>
          <a:p>
            <a:r>
              <a:rPr lang="zh-CN" altLang="en-US"/>
              <a:t>用</a:t>
            </a:r>
            <a:r>
              <a:rPr lang="en-US" altLang="zh-CN"/>
              <a:t>Vite</a:t>
            </a:r>
            <a:r>
              <a:rPr lang="zh-CN" altLang="en-US"/>
              <a:t>工具实现高效启动和热更新；</a:t>
            </a:r>
            <a:endParaRPr lang="zh-CN" altLang="en-US"/>
          </a:p>
          <a:p>
            <a:r>
              <a:rPr lang="zh-CN" altLang="en-US"/>
              <a:t>用</a:t>
            </a:r>
            <a:r>
              <a:rPr lang="en-US" altLang="zh-CN"/>
              <a:t>Element Plus</a:t>
            </a:r>
            <a:r>
              <a:rPr lang="zh-CN" altLang="en-US"/>
              <a:t>组件库构建页面，</a:t>
            </a:r>
            <a:endParaRPr lang="zh-CN" altLang="en-US"/>
          </a:p>
          <a:p>
            <a:r>
              <a:rPr lang="zh-CN" altLang="en-US"/>
              <a:t>通过</a:t>
            </a:r>
            <a:r>
              <a:rPr lang="en-US" altLang="zh-CN"/>
              <a:t>Axios</a:t>
            </a:r>
            <a:r>
              <a:rPr lang="zh-CN" altLang="en-US"/>
              <a:t>网络库与后端建立通信。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第五部分</a:t>
            </a:r>
            <a:r>
              <a:rPr lang="en-US" altLang="zh-CN"/>
              <a:t> </a:t>
            </a:r>
            <a:r>
              <a:rPr lang="zh-CN" altLang="en-US"/>
              <a:t>特色与亮点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我们进行了四种索引优化</a:t>
            </a:r>
            <a:endParaRPr lang="zh-CN" altLang="en-US"/>
          </a:p>
          <a:p>
            <a:r>
              <a:rPr lang="zh-CN" altLang="en-US"/>
              <a:t>第一：为所有外键关系建立索引，提升联合查询效率</a:t>
            </a:r>
            <a:endParaRPr lang="zh-CN" altLang="en-US"/>
          </a:p>
          <a:p>
            <a:r>
              <a:rPr lang="zh-CN" altLang="en-US">
                <a:sym typeface="+mn-ea"/>
              </a:rPr>
              <a:t>第二、针对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状态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这种高频查询字段，我们单独建立了索引，提升</a:t>
            </a:r>
            <a:r>
              <a:rPr lang="zh-CN" altLang="en-US"/>
              <a:t>加载速度；</a:t>
            </a:r>
            <a:endParaRPr lang="zh-CN" altLang="en-US"/>
          </a:p>
          <a:p>
            <a:r>
              <a:rPr lang="zh-CN" altLang="en-US"/>
              <a:t>第三、对业务主键采用唯一索引，提升单记录查询效率</a:t>
            </a:r>
            <a:endParaRPr lang="zh-CN" altLang="en-US"/>
          </a:p>
          <a:p>
            <a:r>
              <a:rPr lang="zh-CN" altLang="en-US"/>
              <a:t>第四、针对常用的组合查询条件，我们还建立了</a:t>
            </a:r>
            <a:r>
              <a:rPr lang="en-US" altLang="zh-CN"/>
              <a:t>“</a:t>
            </a:r>
            <a:r>
              <a:rPr lang="zh-CN" altLang="en-US"/>
              <a:t>联合唯一索引</a:t>
            </a:r>
            <a:r>
              <a:rPr lang="en-US" altLang="zh-CN"/>
              <a:t>”</a:t>
            </a:r>
            <a:endParaRPr lang="en-US" altLang="zh-C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r>
              <a:rPr lang="zh-CN" altLang="en-US"/>
              <a:t>我们进行了四种索引优化</a:t>
            </a:r>
            <a:endParaRPr lang="zh-CN" altLang="en-US"/>
          </a:p>
          <a:p>
            <a:r>
              <a:rPr lang="zh-CN" altLang="en-US"/>
              <a:t>第一：为所有外键关系建立索引，提升联合查询效率</a:t>
            </a:r>
            <a:endParaRPr lang="zh-CN" altLang="en-US"/>
          </a:p>
          <a:p>
            <a:r>
              <a:rPr lang="zh-CN" altLang="en-US">
                <a:sym typeface="+mn-ea"/>
              </a:rPr>
              <a:t>第二、针对</a:t>
            </a:r>
            <a:r>
              <a:rPr lang="en-US" altLang="zh-CN">
                <a:sym typeface="+mn-ea"/>
              </a:rPr>
              <a:t>“</a:t>
            </a:r>
            <a:r>
              <a:rPr lang="zh-CN" altLang="en-US">
                <a:sym typeface="+mn-ea"/>
              </a:rPr>
              <a:t>状态</a:t>
            </a:r>
            <a:r>
              <a:rPr lang="en-US" altLang="zh-CN">
                <a:sym typeface="+mn-ea"/>
              </a:rPr>
              <a:t>”</a:t>
            </a:r>
            <a:r>
              <a:rPr lang="zh-CN" altLang="en-US">
                <a:sym typeface="+mn-ea"/>
              </a:rPr>
              <a:t>这种高频查询字段，我们单独建立了索引，提升</a:t>
            </a:r>
            <a:r>
              <a:rPr lang="zh-CN" altLang="en-US"/>
              <a:t>加载速度；</a:t>
            </a:r>
            <a:endParaRPr lang="zh-CN" altLang="en-US"/>
          </a:p>
          <a:p>
            <a:r>
              <a:rPr lang="zh-CN" altLang="en-US"/>
              <a:t>第三、对业务主键采用唯一索引，提升单记录查询效率</a:t>
            </a:r>
            <a:endParaRPr lang="zh-CN" altLang="en-US"/>
          </a:p>
          <a:p>
            <a:r>
              <a:rPr lang="zh-CN" altLang="en-US"/>
              <a:t>第四、针对常用的组合查询条件，我们还建立了</a:t>
            </a:r>
            <a:r>
              <a:rPr lang="en-US" altLang="zh-CN"/>
              <a:t>“</a:t>
            </a:r>
            <a:r>
              <a:rPr lang="zh-CN" altLang="en-US"/>
              <a:t>联合唯一索引</a:t>
            </a:r>
            <a:r>
              <a:rPr lang="en-US" altLang="zh-CN"/>
              <a:t>”</a:t>
            </a:r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汇报部分到此结束，下面由程斌同学进行系统演示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88922EB3-8BB3-4D7C-920D-99B3A498A38A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 panose="02010600030101010101" charset="-122"/>
                <a:ea typeface="等线" panose="02010600030101010101" charset="-122"/>
                <a:cs typeface="+mn-cs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5.jpeg"/><Relationship Id="rId3" Type="http://schemas.openxmlformats.org/officeDocument/2006/relationships/tags" Target="../tags/tag1.xml"/><Relationship Id="rId4" Type="http://schemas.openxmlformats.org/officeDocument/2006/relationships/tags" Target="../tags/tag2.xml"/><Relationship Id="rId5" Type="http://schemas.openxmlformats.org/officeDocument/2006/relationships/tags" Target="../tags/tag3.xml"/><Relationship Id="rId6" Type="http://schemas.openxmlformats.org/officeDocument/2006/relationships/tags" Target="../tags/tag4.xml"/><Relationship Id="rId7" Type="http://schemas.openxmlformats.org/officeDocument/2006/relationships/tags" Target="../tags/tag5.xml"/><Relationship Id="rId8" Type="http://schemas.openxmlformats.org/officeDocument/2006/relationships/tags" Target="../tags/tag6.xml"/><Relationship Id="rId9" Type="http://schemas.openxmlformats.org/officeDocument/2006/relationships/tags" Target="../tags/tag7.xml"/><Relationship Id="rId10" Type="http://schemas.openxmlformats.org/officeDocument/2006/relationships/tags" Target="../tags/tag8.xml"/><Relationship Id="rId11" Type="http://schemas.openxmlformats.org/officeDocument/2006/relationships/tags" Target="../tags/tag9.xml"/><Relationship Id="rId12" Type="http://schemas.openxmlformats.org/officeDocument/2006/relationships/tags" Target="../tags/tag10.xml"/><Relationship Id="rId13" Type="http://schemas.openxmlformats.org/officeDocument/2006/relationships/tags" Target="../tags/tag11.xml"/><Relationship Id="rId14" Type="http://schemas.openxmlformats.org/officeDocument/2006/relationships/tags" Target="../tags/tag12.xml"/><Relationship Id="rId15" Type="http://schemas.openxmlformats.org/officeDocument/2006/relationships/tags" Target="../tags/tag13.xml"/><Relationship Id="rId16" Type="http://schemas.openxmlformats.org/officeDocument/2006/relationships/tags" Target="../tags/tag14.xml"/><Relationship Id="rId17" Type="http://schemas.openxmlformats.org/officeDocument/2006/relationships/tags" Target="../tags/tag15.xml"/><Relationship Id="rId18" Type="http://schemas.openxmlformats.org/officeDocument/2006/relationships/tags" Target="../tags/tag16.xml"/><Relationship Id="rId19" Type="http://schemas.openxmlformats.org/officeDocument/2006/relationships/image" Target="../media/image6.png"/><Relationship Id="rId20" Type="http://schemas.openxmlformats.org/officeDocument/2006/relationships/image" Target="../media/image7.png"/><Relationship Id="rId21" Type="http://schemas.openxmlformats.org/officeDocument/2006/relationships/image" Target="../media/image8.png"/><Relationship Id="rId22" Type="http://schemas.openxmlformats.org/officeDocument/2006/relationships/tags" Target="../tags/tag17.xml"/><Relationship Id="rId23" Type="http://schemas.openxmlformats.org/officeDocument/2006/relationships/tags" Target="../tags/tag18.xml"/><Relationship Id="rId24" Type="http://schemas.openxmlformats.org/officeDocument/2006/relationships/tags" Target="../tags/tag19.xml"/><Relationship Id="rId25" Type="http://schemas.openxmlformats.org/officeDocument/2006/relationships/tags" Target="../tags/tag20.xml"/><Relationship Id="rId26" Type="http://schemas.openxmlformats.org/officeDocument/2006/relationships/slideLayout" Target="../slideLayouts/slideLayout1.xml"/><Relationship Id="rId2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microsoft.com/office/2007/relationships/hdphoto" Target="../media/image10.wdp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tags" Target="../tags/tag21.xml"/><Relationship Id="rId6" Type="http://schemas.openxmlformats.org/officeDocument/2006/relationships/tags" Target="../tags/tag22.xml"/><Relationship Id="rId7" Type="http://schemas.openxmlformats.org/officeDocument/2006/relationships/tags" Target="../tags/tag23.xml"/><Relationship Id="rId8" Type="http://schemas.openxmlformats.org/officeDocument/2006/relationships/tags" Target="../tags/tag24.xml"/><Relationship Id="rId9" Type="http://schemas.openxmlformats.org/officeDocument/2006/relationships/tags" Target="../tags/tag25.xml"/><Relationship Id="rId10" Type="http://schemas.openxmlformats.org/officeDocument/2006/relationships/tags" Target="../tags/tag26.xml"/><Relationship Id="rId11" Type="http://schemas.openxmlformats.org/officeDocument/2006/relationships/tags" Target="../tags/tag27.xml"/><Relationship Id="rId12" Type="http://schemas.openxmlformats.org/officeDocument/2006/relationships/tags" Target="../tags/tag28.xml"/><Relationship Id="rId13" Type="http://schemas.openxmlformats.org/officeDocument/2006/relationships/tags" Target="../tags/tag29.xml"/><Relationship Id="rId14" Type="http://schemas.openxmlformats.org/officeDocument/2006/relationships/tags" Target="../tags/tag30.xml"/><Relationship Id="rId15" Type="http://schemas.openxmlformats.org/officeDocument/2006/relationships/tags" Target="../tags/tag31.xml"/><Relationship Id="rId16" Type="http://schemas.openxmlformats.org/officeDocument/2006/relationships/tags" Target="../tags/tag32.xml"/><Relationship Id="rId17" Type="http://schemas.openxmlformats.org/officeDocument/2006/relationships/tags" Target="../tags/tag33.xml"/><Relationship Id="rId18" Type="http://schemas.openxmlformats.org/officeDocument/2006/relationships/tags" Target="../tags/tag34.xml"/><Relationship Id="rId19" Type="http://schemas.openxmlformats.org/officeDocument/2006/relationships/tags" Target="../tags/tag35.xml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4.xml"/><Relationship Id="rId22" Type="http://schemas.openxmlformats.org/officeDocument/2006/relationships/image" Target="../media/image1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microsoft.com/office/2007/relationships/hdphoto" Target="../media/image10.wdp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1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6.xml"/><Relationship Id="rId8" Type="http://schemas.openxmlformats.org/officeDocument/2006/relationships/image" Target="../media/image1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microsoft.com/office/2007/relationships/hdphoto" Target="../media/image10.wdp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tags" Target="../tags/tag36.xml"/><Relationship Id="rId6" Type="http://schemas.openxmlformats.org/officeDocument/2006/relationships/tags" Target="../tags/tag37.xml"/><Relationship Id="rId7" Type="http://schemas.openxmlformats.org/officeDocument/2006/relationships/tags" Target="../tags/tag38.xml"/><Relationship Id="rId8" Type="http://schemas.openxmlformats.org/officeDocument/2006/relationships/tags" Target="../tags/tag39.xml"/><Relationship Id="rId9" Type="http://schemas.openxmlformats.org/officeDocument/2006/relationships/tags" Target="../tags/tag40.xml"/><Relationship Id="rId10" Type="http://schemas.openxmlformats.org/officeDocument/2006/relationships/tags" Target="../tags/tag41.xml"/><Relationship Id="rId11" Type="http://schemas.openxmlformats.org/officeDocument/2006/relationships/tags" Target="../tags/tag42.xml"/><Relationship Id="rId12" Type="http://schemas.openxmlformats.org/officeDocument/2006/relationships/tags" Target="../tags/tag43.xml"/><Relationship Id="rId13" Type="http://schemas.openxmlformats.org/officeDocument/2006/relationships/tags" Target="../tags/tag44.xml"/><Relationship Id="rId14" Type="http://schemas.openxmlformats.org/officeDocument/2006/relationships/tags" Target="../tags/tag45.xml"/><Relationship Id="rId15" Type="http://schemas.openxmlformats.org/officeDocument/2006/relationships/tags" Target="../tags/tag46.xml"/><Relationship Id="rId16" Type="http://schemas.openxmlformats.org/officeDocument/2006/relationships/tags" Target="../tags/tag47.xml"/><Relationship Id="rId17" Type="http://schemas.openxmlformats.org/officeDocument/2006/relationships/tags" Target="../tags/tag48.xml"/><Relationship Id="rId18" Type="http://schemas.openxmlformats.org/officeDocument/2006/relationships/tags" Target="../tags/tag49.xml"/><Relationship Id="rId19" Type="http://schemas.openxmlformats.org/officeDocument/2006/relationships/tags" Target="../tags/tag50.xml"/><Relationship Id="rId20" Type="http://schemas.openxmlformats.org/officeDocument/2006/relationships/slideLayout" Target="../slideLayouts/slideLayout2.xml"/><Relationship Id="rId21" Type="http://schemas.openxmlformats.org/officeDocument/2006/relationships/notesSlide" Target="../notesSlides/notesSlide8.xml"/><Relationship Id="rId22" Type="http://schemas.openxmlformats.org/officeDocument/2006/relationships/image" Target="../media/image1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microsoft.com/office/2007/relationships/hdphoto" Target="../media/image10.wdp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image" Target="../media/image12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0.xml"/><Relationship Id="rId8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microsoft.com/office/2007/relationships/hdphoto" Target="../media/image10.wdp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tags" Target="../tags/tag51.xml"/><Relationship Id="rId6" Type="http://schemas.openxmlformats.org/officeDocument/2006/relationships/tags" Target="../tags/tag52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2.xml"/><Relationship Id="rId9" Type="http://schemas.openxmlformats.org/officeDocument/2006/relationships/image" Target="../media/image1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9.png"/><Relationship Id="rId2" Type="http://schemas.microsoft.com/office/2007/relationships/hdphoto" Target="../media/image10.wdp"/><Relationship Id="rId3" Type="http://schemas.openxmlformats.org/officeDocument/2006/relationships/image" Target="../media/image7.png"/><Relationship Id="rId4" Type="http://schemas.openxmlformats.org/officeDocument/2006/relationships/image" Target="../media/image8.png"/><Relationship Id="rId5" Type="http://schemas.openxmlformats.org/officeDocument/2006/relationships/tags" Target="../tags/tag53.xml"/><Relationship Id="rId6" Type="http://schemas.openxmlformats.org/officeDocument/2006/relationships/tags" Target="../tags/tag54.xml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13.xml"/><Relationship Id="rId9" Type="http://schemas.openxmlformats.org/officeDocument/2006/relationships/image" Target="../media/image2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13.jpe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1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64852" y="1350313"/>
            <a:ext cx="6117528" cy="611752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3"/>
          <a:stretch>
            <a:fillRect/>
          </a:stretch>
        </p:blipFill>
        <p:spPr>
          <a:xfrm>
            <a:off x="191346" y="116631"/>
            <a:ext cx="11809309" cy="522678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1345" y="116631"/>
            <a:ext cx="11809309" cy="5226782"/>
          </a:xfrm>
          <a:prstGeom prst="rect">
            <a:avLst/>
          </a:prstGeom>
          <a:solidFill>
            <a:srgbClr val="02428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949527" y="5155867"/>
            <a:ext cx="2292946" cy="38382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平行四边形 10"/>
          <p:cNvSpPr/>
          <p:nvPr/>
        </p:nvSpPr>
        <p:spPr>
          <a:xfrm>
            <a:off x="4949825" y="5733415"/>
            <a:ext cx="2629535" cy="875665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占位符 30"/>
          <p:cNvSpPr txBox="1"/>
          <p:nvPr/>
        </p:nvSpPr>
        <p:spPr>
          <a:xfrm>
            <a:off x="4791075" y="5814060"/>
            <a:ext cx="2920365" cy="701675"/>
          </a:xfrm>
          <a:prstGeom prst="rect">
            <a:avLst/>
          </a:prstGeom>
        </p:spPr>
        <p:txBody>
          <a:bodyPr vert="horz" lIns="91440" tIns="45720" rIns="91440" bIns="45720" rtlCol="0" wrap="square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800" b="0">
                <a:solidFill>
                  <a:srgbClr val="FFFFFF"/>
                </a:solidFill>
                <a:latin typeface="PingFang SC"/>
              </a:rPr>
              <a:t>汇报人：王中颢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PingFang SC"/>
              </a:rPr>
              <a:t>小组编号：7</a:t>
            </a:r>
          </a:p>
        </p:txBody>
      </p:sp>
      <p:sp>
        <p:nvSpPr>
          <p:cNvPr id="17" name="文本占位符 32"/>
          <p:cNvSpPr txBox="1"/>
          <p:nvPr/>
        </p:nvSpPr>
        <p:spPr>
          <a:xfrm>
            <a:off x="4791075" y="521310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 wrap="square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800" b="0">
                <a:solidFill>
                  <a:srgbClr val="FFFFFF"/>
                </a:solidFill>
                <a:latin typeface="PingFang SC"/>
              </a:rPr>
              <a:t>2026年04月06日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4" name="文本占位符 24"/>
          <p:cNvSpPr txBox="1"/>
          <p:nvPr/>
        </p:nvSpPr>
        <p:spPr>
          <a:xfrm>
            <a:off x="515378" y="2218964"/>
            <a:ext cx="11161239" cy="2133712"/>
          </a:xfrm>
          <a:prstGeom prst="rect">
            <a:avLst/>
          </a:prstGeom>
        </p:spPr>
        <p:txBody>
          <a:bodyPr vert="horz" lIns="91440" tIns="45720" rIns="91440" bIns="45720" rtlCol="0" wrap="square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2600" b="1">
                <a:solidFill>
                  <a:srgbClr val="FFFFFF"/>
                </a:solidFill>
                <a:latin typeface="PingFang SC"/>
              </a:rPr>
              <a:t>“智算”AI4ML 社区</a:t>
            </a:r>
            <a:endParaRPr kumimoji="0" lang="zh-CN" altLang="en-US" sz="72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208203" y="4299742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3879975" y="981574"/>
            <a:ext cx="4918925" cy="1253932"/>
            <a:chOff x="751446" y="486412"/>
            <a:chExt cx="4918925" cy="1253932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751446" y="486412"/>
              <a:ext cx="1253932" cy="1253932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960350" y="609785"/>
              <a:ext cx="3710021" cy="607920"/>
            </a:xfrm>
            <a:prstGeom prst="rect">
              <a:avLst/>
            </a:prstGeom>
          </p:spPr>
        </p:pic>
        <p:sp>
          <p:nvSpPr>
            <p:cNvPr id="23" name="矩形 22"/>
            <p:cNvSpPr/>
            <p:nvPr/>
          </p:nvSpPr>
          <p:spPr>
            <a:xfrm>
              <a:off x="2167394" y="1226892"/>
              <a:ext cx="3502977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/>
              <a:r>
                <a:rPr lang="en-US" altLang="zh-CN" sz="1400" b="1" dirty="0">
                  <a:solidFill>
                    <a:prstClr val="white"/>
                  </a:solidFill>
                </a:rPr>
                <a:t>BEIHANG UNIVERSITY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44001" y="397693"/>
            <a:ext cx="6049548" cy="604954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90" r="16132"/>
          <a:stretch>
            <a:fillRect/>
          </a:stretch>
        </p:blipFill>
        <p:spPr>
          <a:xfrm>
            <a:off x="1" y="-1"/>
            <a:ext cx="6240014" cy="687298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19601" y="0"/>
            <a:ext cx="6259616" cy="6872990"/>
          </a:xfrm>
          <a:prstGeom prst="rect">
            <a:avLst/>
          </a:prstGeom>
          <a:gradFill flip="none" rotWithShape="1">
            <a:gsLst>
              <a:gs pos="0">
                <a:srgbClr val="024282">
                  <a:alpha val="70000"/>
                </a:srgbClr>
              </a:gs>
              <a:gs pos="59000">
                <a:srgbClr val="024282">
                  <a:alpha val="80000"/>
                </a:srgbClr>
              </a:gs>
              <a:gs pos="100000">
                <a:srgbClr val="024282">
                  <a:alpha val="9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251251" y="948678"/>
            <a:ext cx="3022484" cy="1350274"/>
            <a:chOff x="1283804" y="1236710"/>
            <a:chExt cx="3022484" cy="1350274"/>
          </a:xfrm>
        </p:grpSpPr>
        <p:sp>
          <p:nvSpPr>
            <p:cNvPr id="4" name="平行四边形 3"/>
            <p:cNvSpPr/>
            <p:nvPr/>
          </p:nvSpPr>
          <p:spPr>
            <a:xfrm>
              <a:off x="1283804" y="1236710"/>
              <a:ext cx="3022484" cy="1350274"/>
            </a:xfrm>
            <a:prstGeom prst="parallelogram">
              <a:avLst>
                <a:gd name="adj" fmla="val 3020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1573792" y="1256225"/>
              <a:ext cx="2410259" cy="1330759"/>
              <a:chOff x="4874746" y="232424"/>
              <a:chExt cx="2410259" cy="1330759"/>
            </a:xfrm>
          </p:grpSpPr>
          <p:sp>
            <p:nvSpPr>
              <p:cNvPr id="7" name="文本框 6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  <p:cNvSpPr txBox="1">
                <a:spLocks noChangeArrowheads="1"/>
              </p:cNvSpPr>
              <p:nvPr/>
            </p:nvSpPr>
            <p:spPr bwMode="auto">
              <a:xfrm>
                <a:off x="5193843" y="1163073"/>
                <a:ext cx="1772064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2865755" algn="l"/>
                  </a:tabLst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24282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  <a:sym typeface="Calibri" panose="020F0502020204030204" pitchFamily="34" charset="0"/>
                  </a:rPr>
                  <a:t>CONTENTS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endParaRPr>
              </a:p>
            </p:txBody>
          </p:sp>
          <p:sp>
            <p:nvSpPr>
              <p:cNvPr id="8" name="文本框 7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  <p:cNvSpPr txBox="1">
                <a:spLocks noChangeArrowheads="1"/>
              </p:cNvSpPr>
              <p:nvPr/>
            </p:nvSpPr>
            <p:spPr bwMode="auto">
              <a:xfrm>
                <a:off x="4874746" y="232424"/>
                <a:ext cx="2410259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2865755" algn="l"/>
                  </a:tabLst>
                  <a:defRPr/>
                </a:pPr>
                <a:r>
                  <a:rPr kumimoji="0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24282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Calibri" panose="020F0502020204030204" pitchFamily="34" charset="0"/>
                  </a:rPr>
                  <a:t>目 录</a:t>
                </a:r>
                <a:endPara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endParaRPr>
              </a:p>
            </p:txBody>
          </p:sp>
          <p:cxnSp>
            <p:nvCxnSpPr>
              <p:cNvPr id="9" name="直接连接符 8"/>
              <p:cNvCxnSpPr/>
              <p:nvPr/>
            </p:nvCxnSpPr>
            <p:spPr>
              <a:xfrm>
                <a:off x="5471592" y="1091557"/>
                <a:ext cx="1224136" cy="0"/>
              </a:xfrm>
              <a:prstGeom prst="line">
                <a:avLst/>
              </a:prstGeom>
              <a:ln w="28575">
                <a:solidFill>
                  <a:srgbClr val="02428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5519934" y="968271"/>
            <a:ext cx="1381373" cy="660400"/>
            <a:chOff x="5519936" y="1488468"/>
            <a:chExt cx="1381373" cy="6604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1" name="平行四边形 10"/>
            <p:cNvSpPr/>
            <p:nvPr>
              <p:custDataLst>
                <p:tags r:id="rId4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文本框 11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597600" y="1541909"/>
              <a:ext cx="1086759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01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6"/>
            </p:custDataLst>
          </p:nvPr>
        </p:nvGrpSpPr>
        <p:grpSpPr>
          <a:xfrm>
            <a:off x="5528190" y="3239138"/>
            <a:ext cx="1381373" cy="660400"/>
            <a:chOff x="5519936" y="1488468"/>
            <a:chExt cx="1381373" cy="66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平行四边形 14"/>
            <p:cNvSpPr/>
            <p:nvPr>
              <p:custDataLst>
                <p:tags r:id="rId7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文本框 15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597600" y="1541909"/>
              <a:ext cx="1086759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03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9"/>
            </p:custDataLst>
          </p:nvPr>
        </p:nvGrpSpPr>
        <p:grpSpPr>
          <a:xfrm>
            <a:off x="5520141" y="4437490"/>
            <a:ext cx="1381373" cy="660400"/>
            <a:chOff x="5519936" y="1488468"/>
            <a:chExt cx="1381373" cy="66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平行四边形 17"/>
            <p:cNvSpPr/>
            <p:nvPr>
              <p:custDataLst>
                <p:tags r:id="rId10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文本框 18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597600" y="1541909"/>
              <a:ext cx="1086759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04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5528189" y="5635843"/>
            <a:ext cx="1381373" cy="660400"/>
            <a:chOff x="5519936" y="1488468"/>
            <a:chExt cx="1381373" cy="66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平行四边形 20"/>
            <p:cNvSpPr/>
            <p:nvPr>
              <p:custDataLst>
                <p:tags r:id="rId13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文本框 21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597600" y="1541909"/>
              <a:ext cx="1086759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05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31" name="文本框 6"/>
          <p:cNvSpPr txBox="1">
            <a:spLocks noChangeArrowheads="1"/>
          </p:cNvSpPr>
          <p:nvPr>
            <p:custDataLst>
              <p:tags r:id="rId15"/>
            </p:custDataLst>
          </p:nvPr>
        </p:nvSpPr>
        <p:spPr bwMode="auto">
          <a:xfrm>
            <a:off x="7404735" y="998855"/>
            <a:ext cx="245364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2200" b="0">
                <a:solidFill>
                  <a:srgbClr val="FFFFFF"/>
                </a:solidFill>
                <a:latin typeface="PingFang SC"/>
              </a:rPr>
              <a:t>项目整体情况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5" name="文本框 6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7404735" y="3277235"/>
            <a:ext cx="272669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2200" b="0">
                <a:solidFill>
                  <a:srgbClr val="FFFFFF"/>
                </a:solidFill>
                <a:latin typeface="PingFang SC"/>
              </a:rPr>
              <a:t>本周执行情况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8" name="文本框 6"/>
          <p:cNvSpPr txBox="1">
            <a:spLocks noChangeArrowheads="1"/>
          </p:cNvSpPr>
          <p:nvPr>
            <p:custDataLst>
              <p:tags r:id="rId17"/>
            </p:custDataLst>
          </p:nvPr>
        </p:nvSpPr>
        <p:spPr bwMode="auto">
          <a:xfrm>
            <a:off x="7407910" y="4444365"/>
            <a:ext cx="196088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2200" b="0">
                <a:solidFill>
                  <a:srgbClr val="FFFFFF"/>
                </a:solidFill>
                <a:latin typeface="PingFang SC"/>
              </a:rPr>
              <a:t>系统原型与验证结果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41" name="文本框 6"/>
          <p:cNvSpPr txBox="1">
            <a:spLocks noChangeArrowheads="1"/>
          </p:cNvSpPr>
          <p:nvPr>
            <p:custDataLst>
              <p:tags r:id="rId18"/>
            </p:custDataLst>
          </p:nvPr>
        </p:nvSpPr>
        <p:spPr bwMode="auto">
          <a:xfrm>
            <a:off x="7407910" y="5647055"/>
            <a:ext cx="35794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2200" b="0">
                <a:solidFill>
                  <a:srgbClr val="FFFFFF"/>
                </a:solidFill>
                <a:latin typeface="PingFang SC"/>
              </a:rPr>
              <a:t>团队分工与下周计划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13545" y="6447112"/>
            <a:ext cx="2093426" cy="334487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7" name="矩形 46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grpSp>
        <p:nvGrpSpPr>
          <p:cNvPr id="5" name="组合 4"/>
          <p:cNvGrpSpPr/>
          <p:nvPr>
            <p:custDataLst>
              <p:tags r:id="rId22"/>
            </p:custDataLst>
          </p:nvPr>
        </p:nvGrpSpPr>
        <p:grpSpPr>
          <a:xfrm>
            <a:off x="5528189" y="2118256"/>
            <a:ext cx="1381373" cy="660400"/>
            <a:chOff x="5519936" y="1488468"/>
            <a:chExt cx="1381373" cy="6604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24" name="平行四边形 23"/>
            <p:cNvSpPr/>
            <p:nvPr>
              <p:custDataLst>
                <p:tags r:id="rId23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文本框 24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24"/>
              </p:custDataLst>
            </p:nvPr>
          </p:nvSpPr>
          <p:spPr bwMode="auto">
            <a:xfrm>
              <a:off x="5597600" y="1541909"/>
              <a:ext cx="1086759" cy="58356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02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sp>
        <p:nvSpPr>
          <p:cNvPr id="27" name="文本框 6"/>
          <p:cNvSpPr txBox="1">
            <a:spLocks noChangeArrowheads="1"/>
          </p:cNvSpPr>
          <p:nvPr>
            <p:custDataLst>
              <p:tags r:id="rId25"/>
            </p:custDataLst>
          </p:nvPr>
        </p:nvSpPr>
        <p:spPr bwMode="auto">
          <a:xfrm>
            <a:off x="7407910" y="2171700"/>
            <a:ext cx="319151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anchor="t">
            <a:spAutoFit/>
          </a:bodyPr>
          <a:lstStyle>
            <a:lvl1pPr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5pPr>
            <a:lvl6pPr marL="25146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6pPr>
            <a:lvl7pPr marL="29718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7pPr>
            <a:lvl8pPr marL="34290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8pPr>
            <a:lvl9pPr marL="3886200" indent="-228600" defTabSz="685800" eaLnBrk="0" fontAlgn="base" hangingPunct="0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Calibri Light" panose="020F0302020204030204" pitchFamily="34" charset="0"/>
                <a:ea typeface="方正宋刻本秀楷简体" panose="02000000000000000000" pitchFamily="2" charset="-122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sz="2200" b="0">
                <a:solidFill>
                  <a:srgbClr val="FFFFFF"/>
                </a:solidFill>
                <a:latin typeface="PingFang SC"/>
              </a:rPr>
              <a:t>技术选型与系统架构</a:t>
            </a:r>
            <a:endParaRPr kumimoji="0" lang="zh-CN" altLang="en-US" sz="28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 wrap="square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4200" b="1">
                <a:solidFill>
                  <a:srgbClr val="FFFFFF"/>
                </a:solidFill>
                <a:latin typeface="PingFang SC"/>
              </a:rPr>
              <a:t>01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 wrap="square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2800" b="1">
                <a:solidFill>
                  <a:srgbClr val="FFFFFF"/>
                </a:solidFill>
                <a:latin typeface="PingFang SC"/>
              </a:rPr>
              <a:t>项目整体情况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 wrap="square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2400" b="1">
                <a:solidFill>
                  <a:srgbClr val="0D2A4A"/>
                </a:solidFill>
                <a:latin typeface="PingFang SC"/>
              </a:rPr>
              <a:t>项目整体情况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359410" y="1196975"/>
            <a:ext cx="11473180" cy="5146040"/>
          </a:xfrm>
          <a:prstGeom prst="rect">
            <a:avLst/>
          </a:prstGeom>
          <a:solidFill>
            <a:srgbClr val="36254B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>
            <p:custDataLst>
              <p:tags r:id="rId5"/>
            </p:custDataLst>
          </p:nvPr>
        </p:nvGrpSpPr>
        <p:grpSpPr>
          <a:xfrm>
            <a:off x="1424868" y="1503786"/>
            <a:ext cx="2498818" cy="779295"/>
            <a:chOff x="1332270" y="3114731"/>
            <a:chExt cx="1915595" cy="597408"/>
          </a:xfrm>
          <a:solidFill>
            <a:srgbClr val="0675A0"/>
          </a:solidFill>
        </p:grpSpPr>
        <p:sp>
          <p:nvSpPr>
            <p:cNvPr id="15" name="矩形 14"/>
            <p:cNvSpPr/>
            <p:nvPr>
              <p:custDataLst>
                <p:tags r:id="rId6"/>
              </p:custDataLst>
            </p:nvPr>
          </p:nvSpPr>
          <p:spPr>
            <a:xfrm>
              <a:off x="1332270" y="3114731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4"/>
            <p:cNvSpPr txBox="1"/>
            <p:nvPr>
              <p:custDataLst>
                <p:tags r:id="rId7"/>
              </p:custDataLst>
            </p:nvPr>
          </p:nvSpPr>
          <p:spPr>
            <a:xfrm>
              <a:off x="1474899" y="3260769"/>
              <a:ext cx="1674075" cy="305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项目定位</a:t>
              </a:r>
              <a:endParaRPr lang="zh-CN" altLang="en-US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8"/>
            </p:custDataLst>
          </p:nvPr>
        </p:nvGrpSpPr>
        <p:grpSpPr>
          <a:xfrm>
            <a:off x="4863508" y="1504421"/>
            <a:ext cx="2498818" cy="779295"/>
            <a:chOff x="5025923" y="2147212"/>
            <a:chExt cx="1915595" cy="597408"/>
          </a:xfrm>
        </p:grpSpPr>
        <p:sp>
          <p:nvSpPr>
            <p:cNvPr id="19" name="矩形 18"/>
            <p:cNvSpPr/>
            <p:nvPr>
              <p:custDataLst>
                <p:tags r:id="rId9"/>
              </p:custDataLst>
            </p:nvPr>
          </p:nvSpPr>
          <p:spPr>
            <a:xfrm>
              <a:off x="5025923" y="2147212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10"/>
              </p:custDataLst>
            </p:nvPr>
          </p:nvSpPr>
          <p:spPr>
            <a:xfrm>
              <a:off x="5087746" y="2292763"/>
              <a:ext cx="1791392" cy="305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三类用户</a:t>
              </a:r>
              <a:endParaRPr lang="zh-CN" altLang="en-US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1"/>
            </p:custDataLst>
          </p:nvPr>
        </p:nvGrpSpPr>
        <p:grpSpPr>
          <a:xfrm>
            <a:off x="8301514" y="1504421"/>
            <a:ext cx="2498818" cy="779295"/>
            <a:chOff x="7140873" y="3115218"/>
            <a:chExt cx="1915595" cy="597408"/>
          </a:xfrm>
          <a:solidFill>
            <a:srgbClr val="C00000"/>
          </a:solidFill>
        </p:grpSpPr>
        <p:sp>
          <p:nvSpPr>
            <p:cNvPr id="22" name="矩形 21"/>
            <p:cNvSpPr/>
            <p:nvPr>
              <p:custDataLst>
                <p:tags r:id="rId12"/>
              </p:custDataLst>
            </p:nvPr>
          </p:nvSpPr>
          <p:spPr>
            <a:xfrm>
              <a:off x="7140873" y="3115218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1"/>
            <p:cNvSpPr txBox="1"/>
            <p:nvPr>
              <p:custDataLst>
                <p:tags r:id="rId13"/>
              </p:custDataLst>
            </p:nvPr>
          </p:nvSpPr>
          <p:spPr>
            <a:xfrm>
              <a:off x="7240178" y="3260769"/>
              <a:ext cx="1715939" cy="305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当前阶段</a:t>
              </a:r>
              <a:endParaRPr lang="zh-CN" altLang="en-US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7" name="矩形 26"/>
          <p:cNvSpPr/>
          <p:nvPr>
            <p:custDataLst>
              <p:tags r:id="rId14"/>
            </p:custDataLst>
          </p:nvPr>
        </p:nvSpPr>
        <p:spPr>
          <a:xfrm>
            <a:off x="1066165" y="2464435"/>
            <a:ext cx="3196590" cy="3798570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>
            <p:custDataLst>
              <p:tags r:id="rId15"/>
            </p:custDataLst>
          </p:nvPr>
        </p:nvSpPr>
        <p:spPr>
          <a:xfrm>
            <a:off x="4610100" y="2464435"/>
            <a:ext cx="3088640" cy="3798570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>
            <p:custDataLst>
              <p:tags r:id="rId16"/>
            </p:custDataLst>
          </p:nvPr>
        </p:nvSpPr>
        <p:spPr>
          <a:xfrm>
            <a:off x="8041640" y="2464435"/>
            <a:ext cx="3091180" cy="3798570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24"/>
          <p:cNvSpPr txBox="1"/>
          <p:nvPr>
            <p:custDataLst>
              <p:tags r:id="rId17"/>
            </p:custDataLst>
          </p:nvPr>
        </p:nvSpPr>
        <p:spPr>
          <a:xfrm>
            <a:off x="1313815" y="2560955"/>
            <a:ext cx="271399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  <a:defRPr/>
            </a:pPr>
            <a:r>
              <a:rPr sz="2200" b="1">
                <a:solidFill>
                  <a:srgbClr val="0D2A4A"/>
                </a:solidFill>
                <a:latin typeface="PingFang SC"/>
              </a:rPr>
              <a:t>平台定位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2C3E50"/>
                </a:solidFill>
                <a:latin typeface="PingFang SC"/>
              </a:rPr>
              <a:t>面向教学与实验场景的 AI4ML 低代码/零代码社区平台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C3E50"/>
                </a:solidFill>
                <a:latin typeface="PingFang SC"/>
              </a:rPr>
              <a:t>核心场景：自然语言描述任务 + 上传 CSV + 自动完成建模</a:t>
            </a:r>
          </a:p>
        </p:txBody>
      </p:sp>
      <p:sp>
        <p:nvSpPr>
          <p:cNvPr id="32" name="文本框 24"/>
          <p:cNvSpPr txBox="1"/>
          <p:nvPr>
            <p:custDataLst>
              <p:tags r:id="rId18"/>
            </p:custDataLst>
          </p:nvPr>
        </p:nvSpPr>
        <p:spPr>
          <a:xfrm>
            <a:off x="4764405" y="2464435"/>
            <a:ext cx="2775585" cy="5585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  <a:defRPr/>
            </a:pPr>
            <a:r>
              <a:rPr sz="2200" b="1">
                <a:solidFill>
                  <a:srgbClr val="0D2A4A"/>
                </a:solidFill>
                <a:latin typeface="PingFang SC"/>
              </a:rPr>
              <a:t>第二周阶段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C3E50"/>
                </a:solidFill>
                <a:latin typeface="PingFang SC"/>
              </a:rPr>
              <a:t>重点完成底座定型、环境跑通、架构定稿与原型起步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2C3E50"/>
                </a:solidFill>
                <a:latin typeface="PingFang SC"/>
              </a:rPr>
              <a:t>系统拆分为前端任务台、FastAPI 后端、MLZero 执行适配层和本地 provider</a:t>
            </a:r>
          </a:p>
        </p:txBody>
      </p:sp>
      <p:sp>
        <p:nvSpPr>
          <p:cNvPr id="33" name="文本框 24"/>
          <p:cNvSpPr txBox="1"/>
          <p:nvPr>
            <p:custDataLst>
              <p:tags r:id="rId19"/>
            </p:custDataLst>
          </p:nvPr>
        </p:nvSpPr>
        <p:spPr>
          <a:xfrm>
            <a:off x="8231505" y="2784475"/>
            <a:ext cx="269367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  <a:defRPr/>
            </a:pPr>
            <a:r>
              <a:rPr sz="2200" b="1">
                <a:solidFill>
                  <a:srgbClr val="0D2A4A"/>
                </a:solidFill>
                <a:latin typeface="PingFang SC"/>
              </a:rPr>
              <a:t>当前闭环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Aft>
                <a:spcPts val="500"/>
              </a:spcAft>
            </a:pPr>
            <a:r>
              <a:rPr sz="1700" b="0">
                <a:solidFill>
                  <a:srgbClr val="2C3E50"/>
                </a:solidFill>
                <a:latin typeface="PingFang SC"/>
              </a:rPr>
              <a:t>已打通 创建任务 → 上传 CSV → 触发运行 → 回写结果</a:t>
            </a:r>
          </a:p>
          <a:p>
            <a:pPr algn="l">
              <a:spcAft>
                <a:spcPts val="0"/>
              </a:spcAft>
            </a:pPr>
            <a:r>
              <a:rPr sz="1700" b="0">
                <a:solidFill>
                  <a:srgbClr val="2C3E50"/>
                </a:solidFill>
                <a:latin typeface="PingFang SC"/>
              </a:rPr>
              <a:t>项目已从调研比较阶段进入工程实现起步阶段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9410" y="1196975"/>
            <a:ext cx="11473180" cy="5146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slide4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59410" y="1196975"/>
            <a:ext cx="11473180" cy="5146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 wrap="square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4200" b="1">
                <a:solidFill>
                  <a:srgbClr val="FFFFFF"/>
                </a:solidFill>
                <a:latin typeface="PingFang SC"/>
              </a:rPr>
              <a:t>02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 wrap="square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2800" b="1">
                <a:solidFill>
                  <a:srgbClr val="FFFFFF"/>
                </a:solidFill>
                <a:latin typeface="PingFang SC"/>
              </a:rPr>
              <a:t>技术选型与系统架构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 wrap="square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2400" b="1">
                <a:solidFill>
                  <a:srgbClr val="0D2A4A"/>
                </a:solidFill>
                <a:latin typeface="PingFang SC"/>
              </a:rPr>
              <a:t>技术选型与系统架构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364490" y="1073150"/>
            <a:ext cx="11513185" cy="5208270"/>
          </a:xfrm>
          <a:prstGeom prst="rect">
            <a:avLst/>
          </a:prstGeom>
          <a:solidFill>
            <a:srgbClr val="024282">
              <a:alpha val="2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等线" panose="02010600030101010101" charset="-122"/>
              <a:ea typeface="等线" panose="02010600030101010101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pic>
        <p:nvPicPr>
          <p:cNvPr id="8" name="图片 7" descr="alpha版范围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475" y="1738630"/>
            <a:ext cx="11242675" cy="3743325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560000" y="1450000"/>
            <a:ext cx="10880000" cy="400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780000" y="1620000"/>
            <a:ext cx="3150000" cy="900000"/>
          </a:xfrm>
          <a:prstGeom prst="roundRect">
            <a:avLst/>
          </a:prstGeom>
          <a:solidFill>
            <a:srgbClr val="E9F4FB"/>
          </a:solidFill>
          <a:ln w="15240">
            <a:solidFill>
              <a:srgbClr val="D3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D2A4A"/>
                </a:solidFill>
                <a:latin typeface="PingFang SC"/>
              </a:rPr>
              <a:t>最终底座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PingFang SC"/>
              </a:rPr>
              <a:t>MLZero / AutoGluon Assistant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PingFang SC"/>
              </a:rPr>
              <a:t>长期项目底座 + 当前有效执行路径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200000" y="1620000"/>
            <a:ext cx="3150000" cy="900000"/>
          </a:xfrm>
          <a:prstGeom prst="roundRect">
            <a:avLst/>
          </a:prstGeom>
          <a:solidFill>
            <a:srgbClr val="F5F9FC"/>
          </a:solidFill>
          <a:ln w="15240">
            <a:solidFill>
              <a:srgbClr val="D3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D2A4A"/>
                </a:solidFill>
                <a:latin typeface="PingFang SC"/>
              </a:rPr>
              <a:t>架构参考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PingFang SC"/>
              </a:rPr>
              <a:t>AIDE ML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PingFang SC"/>
              </a:rPr>
              <a:t>实验树搜索 / 进度可视化参考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620000" y="1620000"/>
            <a:ext cx="3150000" cy="900000"/>
          </a:xfrm>
          <a:prstGeom prst="roundRect">
            <a:avLst/>
          </a:prstGeom>
          <a:solidFill>
            <a:srgbClr val="E9F4FB"/>
          </a:solidFill>
          <a:ln w="15240">
            <a:solidFill>
              <a:srgbClr val="D3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</a:pPr>
            <a:r>
              <a:rPr sz="2100" b="1">
                <a:solidFill>
                  <a:srgbClr val="0D2A4A"/>
                </a:solidFill>
                <a:latin typeface="PingFang SC"/>
              </a:rPr>
              <a:t>角色参考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PingFang SC"/>
              </a:rPr>
              <a:t>AutoML-Agent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PingFang SC"/>
              </a:rPr>
              <a:t>多智能体职责拆分参考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60000" y="2900000"/>
            <a:ext cx="1780000" cy="820000"/>
          </a:xfrm>
          <a:prstGeom prst="roundRect">
            <a:avLst/>
          </a:prstGeom>
          <a:solidFill>
            <a:srgbClr val="0D2A4A"/>
          </a:solidFill>
          <a:ln w="15240">
            <a:solidFill>
              <a:srgbClr val="0D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前端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PingFang SC"/>
              </a:rPr>
              <a:t>React 任务台</a:t>
            </a:r>
          </a:p>
        </p:txBody>
      </p:sp>
      <p:sp>
        <p:nvSpPr>
          <p:cNvPr id="58" name="Chevron 57"/>
          <p:cNvSpPr/>
          <p:nvPr/>
        </p:nvSpPr>
        <p:spPr>
          <a:xfrm>
            <a:off x="2575000" y="3110000"/>
            <a:ext cx="130000" cy="360000"/>
          </a:xfrm>
          <a:prstGeom prst="chevron">
            <a:avLst/>
          </a:prstGeom>
          <a:solidFill>
            <a:srgbClr val="4AC2FF"/>
          </a:solidFill>
          <a:ln>
            <a:solidFill>
              <a:srgbClr val="4A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2750000" y="2900000"/>
            <a:ext cx="1780000" cy="820000"/>
          </a:xfrm>
          <a:prstGeom prst="roundRect">
            <a:avLst/>
          </a:prstGeom>
          <a:solidFill>
            <a:srgbClr val="1F6FAD"/>
          </a:solidFill>
          <a:ln w="15240">
            <a:solidFill>
              <a:srgbClr val="0D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后端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PingFang SC"/>
              </a:rPr>
              <a:t>FastAPI API</a:t>
            </a:r>
          </a:p>
        </p:txBody>
      </p:sp>
      <p:sp>
        <p:nvSpPr>
          <p:cNvPr id="60" name="Chevron 59"/>
          <p:cNvSpPr/>
          <p:nvPr/>
        </p:nvSpPr>
        <p:spPr>
          <a:xfrm>
            <a:off x="4565000" y="3110000"/>
            <a:ext cx="130000" cy="360000"/>
          </a:xfrm>
          <a:prstGeom prst="chevron">
            <a:avLst/>
          </a:prstGeom>
          <a:solidFill>
            <a:srgbClr val="4AC2FF"/>
          </a:solidFill>
          <a:ln>
            <a:solidFill>
              <a:srgbClr val="4A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4740000" y="2900000"/>
            <a:ext cx="1780000" cy="820000"/>
          </a:xfrm>
          <a:prstGeom prst="roundRect">
            <a:avLst/>
          </a:prstGeom>
          <a:solidFill>
            <a:srgbClr val="1F6FAD"/>
          </a:solidFill>
          <a:ln w="15240">
            <a:solidFill>
              <a:srgbClr val="0D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本地存储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PingFang SC"/>
              </a:rPr>
              <a:t>Task / Dataset</a:t>
            </a:r>
          </a:p>
        </p:txBody>
      </p:sp>
      <p:sp>
        <p:nvSpPr>
          <p:cNvPr id="62" name="Chevron 61"/>
          <p:cNvSpPr/>
          <p:nvPr/>
        </p:nvSpPr>
        <p:spPr>
          <a:xfrm>
            <a:off x="6555000" y="3110000"/>
            <a:ext cx="130000" cy="360000"/>
          </a:xfrm>
          <a:prstGeom prst="chevron">
            <a:avLst/>
          </a:prstGeom>
          <a:solidFill>
            <a:srgbClr val="4AC2FF"/>
          </a:solidFill>
          <a:ln>
            <a:solidFill>
              <a:srgbClr val="4A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730000" y="2900000"/>
            <a:ext cx="1780000" cy="820000"/>
          </a:xfrm>
          <a:prstGeom prst="roundRect">
            <a:avLst/>
          </a:prstGeom>
          <a:solidFill>
            <a:srgbClr val="0D2A4A"/>
          </a:solidFill>
          <a:ln w="15240">
            <a:solidFill>
              <a:srgbClr val="0D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执行层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PingFang SC"/>
              </a:rPr>
              <a:t>MLZero Executor</a:t>
            </a:r>
          </a:p>
        </p:txBody>
      </p:sp>
      <p:sp>
        <p:nvSpPr>
          <p:cNvPr id="64" name="Chevron 63"/>
          <p:cNvSpPr/>
          <p:nvPr/>
        </p:nvSpPr>
        <p:spPr>
          <a:xfrm>
            <a:off x="8545000" y="3110000"/>
            <a:ext cx="130000" cy="360000"/>
          </a:xfrm>
          <a:prstGeom prst="chevron">
            <a:avLst/>
          </a:prstGeom>
          <a:solidFill>
            <a:srgbClr val="4AC2FF"/>
          </a:solidFill>
          <a:ln>
            <a:solidFill>
              <a:srgbClr val="4AC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ounded Rectangle 64"/>
          <p:cNvSpPr/>
          <p:nvPr/>
        </p:nvSpPr>
        <p:spPr>
          <a:xfrm>
            <a:off x="8720000" y="2900000"/>
            <a:ext cx="1780000" cy="820000"/>
          </a:xfrm>
          <a:prstGeom prst="roundRect">
            <a:avLst/>
          </a:prstGeom>
          <a:solidFill>
            <a:srgbClr val="0D2A4A"/>
          </a:solidFill>
          <a:ln w="15240">
            <a:solidFill>
              <a:srgbClr val="0D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/>
            <a:r>
              <a:rPr sz="1800" b="1">
                <a:solidFill>
                  <a:srgbClr val="FFFFFF"/>
                </a:solidFill>
                <a:latin typeface="PingFang SC"/>
              </a:rPr>
              <a:t>运行时</a:t>
            </a:r>
          </a:p>
          <a:p>
            <a:pPr algn="ctr"/>
            <a:r>
              <a:rPr sz="1500" b="0">
                <a:solidFill>
                  <a:srgbClr val="FFFFFF"/>
                </a:solidFill>
                <a:latin typeface="PingFang SC"/>
              </a:rPr>
              <a:t>llama-cpp + GGUF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840000" y="4010000"/>
            <a:ext cx="5100000" cy="520000"/>
          </a:xfrm>
          <a:prstGeom prst="roundRect">
            <a:avLst/>
          </a:prstGeom>
          <a:solidFill>
            <a:srgbClr val="F5F9FC"/>
          </a:solidFill>
          <a:ln w="15240">
            <a:solidFill>
              <a:srgbClr val="D3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D2A4A"/>
                </a:solidFill>
                <a:latin typeface="PingFang SC"/>
              </a:rPr>
              <a:t>关键接口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PingFang SC"/>
              </a:rPr>
              <a:t>/api/health   /api/tasks   /dataset   /run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6160000" y="4010000"/>
            <a:ext cx="4530000" cy="520000"/>
          </a:xfrm>
          <a:prstGeom prst="roundRect">
            <a:avLst/>
          </a:prstGeom>
          <a:solidFill>
            <a:srgbClr val="F5F9FC"/>
          </a:solidFill>
          <a:ln w="15240">
            <a:solidFill>
              <a:srgbClr val="D3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</a:pPr>
            <a:r>
              <a:rPr sz="1800" b="1">
                <a:solidFill>
                  <a:srgbClr val="0D2A4A"/>
                </a:solidFill>
                <a:latin typeface="PingFang SC"/>
              </a:rPr>
              <a:t>本地环境</a:t>
            </a:r>
          </a:p>
          <a:p>
            <a:pPr algn="l">
              <a:spcAft>
                <a:spcPts val="400"/>
              </a:spcAft>
            </a:pPr>
            <a:r>
              <a:rPr sz="1400" b="0">
                <a:solidFill>
                  <a:srgbClr val="2C3E50"/>
                </a:solidFill>
                <a:latin typeface="PingFang SC"/>
              </a:rPr>
              <a:t>macOS + Python 3.11(mlzero) + Python 3.9(.venv) + Node 18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98475" y="1738630"/>
            <a:ext cx="11242675" cy="374332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9" name="Picture 68" descr="slide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98475" y="1738630"/>
            <a:ext cx="11242675" cy="374332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 wrap="square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4200" b="1">
                <a:solidFill>
                  <a:srgbClr val="FFFFFF"/>
                </a:solidFill>
                <a:latin typeface="PingFang SC"/>
              </a:rPr>
              <a:t>03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 wrap="square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2800" b="1">
                <a:solidFill>
                  <a:srgbClr val="FFFFFF"/>
                </a:solidFill>
                <a:latin typeface="PingFang SC"/>
              </a:rPr>
              <a:t>本周执行情况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 wrap="square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2400" b="1">
                <a:solidFill>
                  <a:srgbClr val="0D2A4A"/>
                </a:solidFill>
                <a:latin typeface="PingFang SC"/>
              </a:rPr>
              <a:t>本周执行情况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359410" y="1196975"/>
            <a:ext cx="11473180" cy="5146040"/>
          </a:xfrm>
          <a:prstGeom prst="rect">
            <a:avLst/>
          </a:prstGeom>
          <a:solidFill>
            <a:srgbClr val="36254B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>
            <p:custDataLst>
              <p:tags r:id="rId5"/>
            </p:custDataLst>
          </p:nvPr>
        </p:nvGrpSpPr>
        <p:grpSpPr>
          <a:xfrm>
            <a:off x="1424868" y="1503786"/>
            <a:ext cx="2498818" cy="779295"/>
            <a:chOff x="1332270" y="3114731"/>
            <a:chExt cx="1915595" cy="597408"/>
          </a:xfrm>
          <a:solidFill>
            <a:srgbClr val="0675A0"/>
          </a:solidFill>
        </p:grpSpPr>
        <p:sp>
          <p:nvSpPr>
            <p:cNvPr id="15" name="矩形 14"/>
            <p:cNvSpPr/>
            <p:nvPr>
              <p:custDataLst>
                <p:tags r:id="rId6"/>
              </p:custDataLst>
            </p:nvPr>
          </p:nvSpPr>
          <p:spPr>
            <a:xfrm>
              <a:off x="1332270" y="3114731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4"/>
            <p:cNvSpPr txBox="1"/>
            <p:nvPr>
              <p:custDataLst>
                <p:tags r:id="rId7"/>
              </p:custDataLst>
            </p:nvPr>
          </p:nvSpPr>
          <p:spPr>
            <a:xfrm>
              <a:off x="1474899" y="3260769"/>
              <a:ext cx="1674075" cy="305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明确用户需求</a:t>
              </a:r>
              <a:endParaRPr lang="zh-CN" altLang="en-US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18" name="组合 17"/>
          <p:cNvGrpSpPr/>
          <p:nvPr>
            <p:custDataLst>
              <p:tags r:id="rId8"/>
            </p:custDataLst>
          </p:nvPr>
        </p:nvGrpSpPr>
        <p:grpSpPr>
          <a:xfrm>
            <a:off x="4863508" y="1504421"/>
            <a:ext cx="2498818" cy="779295"/>
            <a:chOff x="5025923" y="2147212"/>
            <a:chExt cx="1915595" cy="597408"/>
          </a:xfrm>
        </p:grpSpPr>
        <p:sp>
          <p:nvSpPr>
            <p:cNvPr id="19" name="矩形 18"/>
            <p:cNvSpPr/>
            <p:nvPr>
              <p:custDataLst>
                <p:tags r:id="rId9"/>
              </p:custDataLst>
            </p:nvPr>
          </p:nvSpPr>
          <p:spPr>
            <a:xfrm>
              <a:off x="5025923" y="2147212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/>
            <p:cNvSpPr txBox="1"/>
            <p:nvPr>
              <p:custDataLst>
                <p:tags r:id="rId10"/>
              </p:custDataLst>
            </p:nvPr>
          </p:nvSpPr>
          <p:spPr>
            <a:xfrm>
              <a:off x="5087746" y="2292763"/>
              <a:ext cx="1791392" cy="305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技术调研</a:t>
              </a:r>
              <a:endParaRPr lang="zh-CN" altLang="en-US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1"/>
            </p:custDataLst>
          </p:nvPr>
        </p:nvGrpSpPr>
        <p:grpSpPr>
          <a:xfrm>
            <a:off x="8301514" y="1504421"/>
            <a:ext cx="2498818" cy="779295"/>
            <a:chOff x="7140873" y="3115218"/>
            <a:chExt cx="1915595" cy="597408"/>
          </a:xfrm>
          <a:solidFill>
            <a:srgbClr val="C00000"/>
          </a:solidFill>
        </p:grpSpPr>
        <p:sp>
          <p:nvSpPr>
            <p:cNvPr id="22" name="矩形 21"/>
            <p:cNvSpPr/>
            <p:nvPr>
              <p:custDataLst>
                <p:tags r:id="rId12"/>
              </p:custDataLst>
            </p:nvPr>
          </p:nvSpPr>
          <p:spPr>
            <a:xfrm>
              <a:off x="7140873" y="3115218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1"/>
            <p:cNvSpPr txBox="1"/>
            <p:nvPr>
              <p:custDataLst>
                <p:tags r:id="rId13"/>
              </p:custDataLst>
            </p:nvPr>
          </p:nvSpPr>
          <p:spPr>
            <a:xfrm>
              <a:off x="7240178" y="3260769"/>
              <a:ext cx="1715939" cy="30570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defRPr/>
              </a:pPr>
              <a:r>
                <a:rPr lang="zh-CN" altLang="en-US" sz="2000" b="1" kern="0" dirty="0">
                  <a:solidFill>
                    <a:srgbClr val="FFFFFF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技术路线决策</a:t>
              </a:r>
              <a:endParaRPr lang="zh-CN" altLang="en-US" sz="2000" b="1" kern="0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27" name="矩形 26"/>
          <p:cNvSpPr/>
          <p:nvPr>
            <p:custDataLst>
              <p:tags r:id="rId14"/>
            </p:custDataLst>
          </p:nvPr>
        </p:nvSpPr>
        <p:spPr>
          <a:xfrm>
            <a:off x="1066165" y="2464435"/>
            <a:ext cx="3196590" cy="3798570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>
            <p:custDataLst>
              <p:tags r:id="rId15"/>
            </p:custDataLst>
          </p:nvPr>
        </p:nvSpPr>
        <p:spPr>
          <a:xfrm>
            <a:off x="4610100" y="2464435"/>
            <a:ext cx="3088640" cy="3798570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>
            <p:custDataLst>
              <p:tags r:id="rId16"/>
            </p:custDataLst>
          </p:nvPr>
        </p:nvSpPr>
        <p:spPr>
          <a:xfrm>
            <a:off x="8041640" y="2464435"/>
            <a:ext cx="3091180" cy="3798570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24"/>
          <p:cNvSpPr txBox="1"/>
          <p:nvPr>
            <p:custDataLst>
              <p:tags r:id="rId17"/>
            </p:custDataLst>
          </p:nvPr>
        </p:nvSpPr>
        <p:spPr>
          <a:xfrm>
            <a:off x="1313815" y="2560955"/>
            <a:ext cx="2713990" cy="341503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  <a:defRPr/>
            </a:pPr>
            <a:r>
              <a:rPr sz="2200" b="1">
                <a:solidFill>
                  <a:srgbClr val="0D2A4A"/>
                </a:solidFill>
                <a:latin typeface="PingFang SC"/>
              </a:rPr>
              <a:t>底座定型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C3E50"/>
                </a:solidFill>
                <a:latin typeface="PingFang SC"/>
              </a:rPr>
              <a:t>对比 MLZero、AIDE、AutoML-Agent 三个候选方向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2C3E50"/>
                </a:solidFill>
                <a:latin typeface="PingFang SC"/>
              </a:rPr>
              <a:t>最终锁定 MLZero，AIDE 与 AutoML-Agent 转为参考系统</a:t>
            </a:r>
          </a:p>
        </p:txBody>
      </p:sp>
      <p:sp>
        <p:nvSpPr>
          <p:cNvPr id="32" name="文本框 24"/>
          <p:cNvSpPr txBox="1"/>
          <p:nvPr>
            <p:custDataLst>
              <p:tags r:id="rId18"/>
            </p:custDataLst>
          </p:nvPr>
        </p:nvSpPr>
        <p:spPr>
          <a:xfrm>
            <a:off x="4764405" y="2464435"/>
            <a:ext cx="2775585" cy="5585460"/>
          </a:xfrm>
          <a:prstGeom prst="rect">
            <a:avLst/>
          </a:prstGeom>
          <a:noFill/>
        </p:spPr>
        <p:txBody>
          <a:bodyPr wrap="square" rtlCol="0" anchor="t">
            <a:no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  <a:defRPr/>
            </a:pPr>
            <a:r>
              <a:rPr sz="2200" b="1">
                <a:solidFill>
                  <a:srgbClr val="0D2A4A"/>
                </a:solidFill>
                <a:latin typeface="PingFang SC"/>
              </a:rPr>
              <a:t>环境验证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spcAft>
                <a:spcPts val="500"/>
              </a:spcAft>
            </a:pPr>
            <a:r>
              <a:rPr sz="1600" b="0">
                <a:solidFill>
                  <a:srgbClr val="2C3E50"/>
                </a:solidFill>
                <a:latin typeface="PingFang SC"/>
              </a:rPr>
              <a:t>搭建 Miniforge + Python 3.11 的 mlzero conda 环境</a:t>
            </a:r>
          </a:p>
          <a:p>
            <a:pPr algn="l">
              <a:spcAft>
                <a:spcPts val="0"/>
              </a:spcAft>
            </a:pPr>
            <a:r>
              <a:rPr sz="1600" b="0">
                <a:solidFill>
                  <a:srgbClr val="2C3E50"/>
                </a:solidFill>
                <a:latin typeface="PingFang SC"/>
              </a:rPr>
              <a:t>接入 llama-cpp provider 与本地 GGUF 模型完成本地验证</a:t>
            </a:r>
          </a:p>
        </p:txBody>
      </p:sp>
      <p:sp>
        <p:nvSpPr>
          <p:cNvPr id="33" name="文本框 24"/>
          <p:cNvSpPr txBox="1"/>
          <p:nvPr>
            <p:custDataLst>
              <p:tags r:id="rId19"/>
            </p:custDataLst>
          </p:nvPr>
        </p:nvSpPr>
        <p:spPr>
          <a:xfrm>
            <a:off x="8250555" y="2745105"/>
            <a:ext cx="2693670" cy="304609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50000"/>
              </a:lnSpc>
              <a:spcAft>
                <a:spcPts val="800"/>
              </a:spcAft>
              <a:defRPr/>
            </a:pPr>
            <a:r>
              <a:rPr sz="2200" b="1">
                <a:solidFill>
                  <a:srgbClr val="0D2A4A"/>
                </a:solidFill>
                <a:latin typeface="PingFang SC"/>
              </a:rPr>
              <a:t>工程落地</a:t>
            </a:r>
            <a:endParaRPr lang="zh-CN" altLang="en-US" sz="16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algn="l">
              <a:spcAft>
                <a:spcPts val="500"/>
              </a:spcAft>
            </a:pPr>
            <a:r>
              <a:rPr sz="1500" b="0">
                <a:solidFill>
                  <a:srgbClr val="2C3E50"/>
                </a:solidFill>
                <a:latin typeface="PingFang SC"/>
              </a:rPr>
              <a:t>完成 FastAPI 接口、Task Store、MLZero Executor 与 React 原型页</a:t>
            </a:r>
          </a:p>
          <a:p>
            <a:pPr algn="l">
              <a:spcAft>
                <a:spcPts val="0"/>
              </a:spcAft>
            </a:pPr>
            <a:r>
              <a:rPr sz="1500" b="0">
                <a:solidFill>
                  <a:srgbClr val="2C3E50"/>
                </a:solidFill>
                <a:latin typeface="PingFang SC"/>
              </a:rPr>
              <a:t>直接执行器与 API 两条链路均得到 validation_score = 0.9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59410" y="1196975"/>
            <a:ext cx="11473180" cy="514604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slide8.png"/>
          <p:cNvPicPr>
            <a:picLocks noChangeAspect="1"/>
          </p:cNvPicPr>
          <p:nvPr/>
        </p:nvPicPr>
        <p:blipFill>
          <a:blip r:embed="rId22"/>
          <a:stretch>
            <a:fillRect/>
          </a:stretch>
        </p:blipFill>
        <p:spPr>
          <a:xfrm>
            <a:off x="359410" y="1196975"/>
            <a:ext cx="11473180" cy="514604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 wrap="square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4200" b="1">
                <a:solidFill>
                  <a:srgbClr val="FFFFFF"/>
                </a:solidFill>
                <a:latin typeface="PingFang SC"/>
              </a:rPr>
              <a:t>04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91440" tIns="45720" rIns="91440" bIns="45720" rtlCol="0" wrap="square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2800" b="1">
                <a:solidFill>
                  <a:srgbClr val="FFFFFF"/>
                </a:solidFill>
                <a:latin typeface="PingFang SC"/>
              </a:rPr>
              <a:t>系统原型与验证结果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矩形 12"/>
          <p:cNvSpPr/>
          <p:nvPr/>
        </p:nvSpPr>
        <p:spPr>
          <a:xfrm>
            <a:off x="1128395" y="859155"/>
            <a:ext cx="10123170" cy="5645785"/>
          </a:xfrm>
          <a:prstGeom prst="rect">
            <a:avLst/>
          </a:prstGeom>
          <a:solidFill>
            <a:srgbClr val="36254B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 wrap="square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2400" b="1">
                <a:solidFill>
                  <a:srgbClr val="0D2A4A"/>
                </a:solidFill>
                <a:latin typeface="PingFang SC"/>
              </a:rPr>
              <a:t>系统原型与验证结果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0" algn="dist">
                <a:defRPr/>
              </a:pPr>
              <a:r>
                <a:rPr lang="en-US" altLang="zh-CN" sz="800" b="1" dirty="0">
                  <a:solidFill>
                    <a:prstClr val="black"/>
                  </a:solidFill>
                </a:rPr>
                <a:t>BEIHANG UNIVERSITY</a:t>
              </a:r>
              <a:endParaRPr lang="en-US" altLang="zh-CN" sz="800" b="1" dirty="0">
                <a:solidFill>
                  <a:prstClr val="black"/>
                </a:solidFill>
              </a:endParaRPr>
            </a:p>
          </p:txBody>
        </p:sp>
      </p:grpSp>
      <p:pic>
        <p:nvPicPr>
          <p:cNvPr id="9" name="图片 8" descr="里程碑安排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84325" y="923925"/>
            <a:ext cx="9130030" cy="5469890"/>
          </a:xfrm>
          <a:prstGeom prst="rect">
            <a:avLst/>
          </a:prstGeom>
        </p:spPr>
      </p:pic>
      <p:sp>
        <p:nvSpPr>
          <p:cNvPr id="53" name="Rectangle 52"/>
          <p:cNvSpPr/>
          <p:nvPr/>
        </p:nvSpPr>
        <p:spPr>
          <a:xfrm>
            <a:off x="1450000" y="1050000"/>
            <a:ext cx="9350000" cy="5200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1600000" y="1250000"/>
            <a:ext cx="5450000" cy="4400000"/>
          </a:xfrm>
          <a:prstGeom prst="roundRect">
            <a:avLst/>
          </a:prstGeom>
          <a:solidFill>
            <a:srgbClr val="F5F9FC"/>
          </a:solidFill>
          <a:ln w="15240">
            <a:solidFill>
              <a:srgbClr val="D3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</a:pPr>
            <a:r>
              <a:rPr sz="2400" b="1">
                <a:solidFill>
                  <a:srgbClr val="0D2A4A"/>
                </a:solidFill>
                <a:latin typeface="PingFang SC"/>
              </a:rPr>
              <a:t>当前前端原型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C3E50"/>
                </a:solidFill>
                <a:latin typeface="PingFang SC"/>
              </a:rPr>
              <a:t>系统状态面板：展示 selected base / runtime / provider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C3E50"/>
                </a:solidFill>
                <a:latin typeface="PingFang SC"/>
              </a:rPr>
              <a:t>任务表单：名称、描述、target、problem type、CSV 上传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C3E50"/>
                </a:solidFill>
                <a:latin typeface="PingFang SC"/>
              </a:rPr>
              <a:t>任务列表：状态、数据集、最新指标与 best model</a:t>
            </a:r>
          </a:p>
          <a:p>
            <a:pPr algn="l">
              <a:spcAft>
                <a:spcPts val="400"/>
              </a:spcAft>
            </a:pPr>
            <a:r>
              <a:rPr sz="1800" b="0">
                <a:solidFill>
                  <a:srgbClr val="2C3E50"/>
                </a:solidFill>
                <a:latin typeface="PingFang SC"/>
              </a:rPr>
              <a:t>运行按钮：可直接触发本地 MLZero validation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50000" y="1250000"/>
            <a:ext cx="3000000" cy="930000"/>
          </a:xfrm>
          <a:prstGeom prst="roundRect">
            <a:avLst/>
          </a:prstGeom>
          <a:solidFill>
            <a:srgbClr val="E9F4FB"/>
          </a:solidFill>
          <a:ln w="15240">
            <a:solidFill>
              <a:srgbClr val="D3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D2A4A"/>
                </a:solidFill>
                <a:latin typeface="PingFang SC"/>
              </a:rPr>
              <a:t>后端健康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  <a:latin typeface="PingFang SC"/>
              </a:rPr>
              <a:t>status = ok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  <a:latin typeface="PingFang SC"/>
              </a:rPr>
              <a:t>runtime = mlzero + local llama-cpp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50000" y="2330000"/>
            <a:ext cx="3000000" cy="930000"/>
          </a:xfrm>
          <a:prstGeom prst="roundRect">
            <a:avLst/>
          </a:prstGeom>
          <a:solidFill>
            <a:srgbClr val="F5F9FC"/>
          </a:solidFill>
          <a:ln w="15240">
            <a:solidFill>
              <a:srgbClr val="D3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D2A4A"/>
                </a:solidFill>
                <a:latin typeface="PingFang SC"/>
              </a:rPr>
              <a:t>直接执行器验证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  <a:latin typeface="PingFang SC"/>
              </a:rPr>
              <a:t>task = irismlz_fastpath6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  <a:latin typeface="PingFang SC"/>
              </a:rPr>
              <a:t>validation_score = 0.9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7350000" y="3410000"/>
            <a:ext cx="3000000" cy="930000"/>
          </a:xfrm>
          <a:prstGeom prst="roundRect">
            <a:avLst/>
          </a:prstGeom>
          <a:solidFill>
            <a:srgbClr val="E9F4FB"/>
          </a:solidFill>
          <a:ln w="15240">
            <a:solidFill>
              <a:srgbClr val="D3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D2A4A"/>
                </a:solidFill>
                <a:latin typeface="PingFang SC"/>
              </a:rPr>
              <a:t>API 全流程验证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  <a:latin typeface="PingFang SC"/>
              </a:rPr>
              <a:t>task = f2032269 / status = completed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  <a:latin typeface="PingFang SC"/>
              </a:rPr>
              <a:t>best_model = node_0 / machine learning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350000" y="4490000"/>
            <a:ext cx="3000000" cy="930000"/>
          </a:xfrm>
          <a:prstGeom prst="roundRect">
            <a:avLst/>
          </a:prstGeom>
          <a:solidFill>
            <a:srgbClr val="F5F9FC"/>
          </a:solidFill>
          <a:ln w="15240">
            <a:solidFill>
              <a:srgbClr val="D3E1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l">
              <a:spcAft>
                <a:spcPts val="600"/>
              </a:spcAft>
            </a:pPr>
            <a:r>
              <a:rPr sz="2000" b="1">
                <a:solidFill>
                  <a:srgbClr val="0D2A4A"/>
                </a:solidFill>
                <a:latin typeface="PingFang SC"/>
              </a:rPr>
              <a:t>产物落盘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  <a:latin typeface="PingFang SC"/>
              </a:rPr>
              <a:t>storage/tasks + storage/mlzero_runs</a:t>
            </a:r>
          </a:p>
          <a:p>
            <a:pPr algn="l">
              <a:spcAft>
                <a:spcPts val="400"/>
              </a:spcAft>
            </a:pPr>
            <a:r>
              <a:rPr sz="1300" b="0">
                <a:solidFill>
                  <a:srgbClr val="2C3E50"/>
                </a:solidFill>
                <a:latin typeface="PingFang SC"/>
              </a:rPr>
              <a:t>provider log 已保存在 storage/mlzero_runtime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600000" y="5800000"/>
            <a:ext cx="8750000" cy="420000"/>
          </a:xfrm>
          <a:prstGeom prst="roundRect">
            <a:avLst/>
          </a:prstGeom>
          <a:solidFill>
            <a:srgbClr val="0D2A4A"/>
          </a:solidFill>
          <a:ln w="15240">
            <a:solidFill>
              <a:srgbClr val="0D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/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PingFang SC"/>
              </a:rPr>
              <a:t>当前已打通：创建任务 → 上传 CSV → 触发运行 → 回写结果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128395" y="859155"/>
            <a:ext cx="10123170" cy="5645785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1" name="Picture 60" descr="slide10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28395" y="859155"/>
            <a:ext cx="10123170" cy="5645785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 wrap="square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4200" b="1">
                <a:solidFill>
                  <a:srgbClr val="FFFFFF"/>
                </a:solidFill>
                <a:latin typeface="PingFang SC"/>
              </a:rPr>
              <a:t>05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379855" y="3246755"/>
            <a:ext cx="7776210" cy="660400"/>
          </a:xfrm>
          <a:prstGeom prst="rect">
            <a:avLst/>
          </a:prstGeom>
        </p:spPr>
        <p:txBody>
          <a:bodyPr vert="horz" lIns="91440" tIns="45720" rIns="91440" bIns="45720" rtlCol="0" wrap="square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2800" b="1">
                <a:solidFill>
                  <a:srgbClr val="FFFFFF"/>
                </a:solidFill>
                <a:latin typeface="PingFang SC"/>
              </a:rPr>
              <a:t>团队分工与下周计划</a:t>
            </a:r>
            <a:endParaRPr kumimoji="0" lang="zh-CN" altLang="en-US" sz="66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 wrap="square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2400" b="1">
                <a:solidFill>
                  <a:srgbClr val="0D2A4A"/>
                </a:solidFill>
                <a:latin typeface="PingFang SC"/>
              </a:rPr>
              <a:t>团队分工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359410" y="1196975"/>
            <a:ext cx="11473180" cy="5146040"/>
          </a:xfrm>
          <a:prstGeom prst="rect">
            <a:avLst/>
          </a:prstGeom>
          <a:solidFill>
            <a:srgbClr val="36254B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>
            <p:custDataLst>
              <p:tags r:id="rId5"/>
            </p:custDataLst>
          </p:nvPr>
        </p:nvSpPr>
        <p:spPr>
          <a:xfrm>
            <a:off x="785495" y="1397000"/>
            <a:ext cx="10852150" cy="4799330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24"/>
          <p:cNvSpPr txBox="1"/>
          <p:nvPr>
            <p:custDataLst>
              <p:tags r:id="rId6"/>
            </p:custDataLst>
          </p:nvPr>
        </p:nvSpPr>
        <p:spPr>
          <a:xfrm>
            <a:off x="1127760" y="1784985"/>
            <a:ext cx="7604125" cy="396938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20000"/>
              </a:lnSpc>
              <a:defRPr/>
            </a:pPr>
            <a:r>
              <a:rPr sz="2200" b="0">
                <a:solidFill>
                  <a:srgbClr val="2C3E50"/>
                </a:solidFill>
                <a:latin typeface="PingFang SC"/>
              </a:rPr>
              <a:t>产品/需求与周报整理：王中颢</a:t>
            </a:r>
            <a:endParaRPr lang="zh-CN" altLang="en-US" sz="24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2C3E50"/>
                </a:solidFill>
                <a:latin typeface="PingFang SC"/>
              </a:rPr>
              <a:t>技术选型与系统架构：王中颢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2C3E50"/>
                </a:solidFill>
                <a:latin typeface="PingFang SC"/>
              </a:rPr>
              <a:t>后端与 MLZero 集成：王中颢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2200" b="0">
                <a:solidFill>
                  <a:srgbClr val="2C3E50"/>
                </a:solidFill>
                <a:latin typeface="PingFang SC"/>
              </a:rPr>
              <a:t>前端原型与联调验证：王中颢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5495" y="1397000"/>
            <a:ext cx="10852150" cy="479933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slide1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495" y="1397000"/>
            <a:ext cx="10852150" cy="4799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91440" tIns="45720" rIns="91440" bIns="45720" rtlCol="0" wrap="square" anchor="t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sz="2400" b="1">
                <a:solidFill>
                  <a:srgbClr val="0D2A4A"/>
                </a:solidFill>
                <a:latin typeface="PingFang SC"/>
              </a:rPr>
              <a:t>下周工作计划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800" b="1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en-US" altLang="zh-CN" sz="8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359410" y="1196975"/>
            <a:ext cx="11473180" cy="5146040"/>
          </a:xfrm>
          <a:prstGeom prst="rect">
            <a:avLst/>
          </a:prstGeom>
          <a:solidFill>
            <a:srgbClr val="36254B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7" name="矩形 26"/>
          <p:cNvSpPr/>
          <p:nvPr>
            <p:custDataLst>
              <p:tags r:id="rId5"/>
            </p:custDataLst>
          </p:nvPr>
        </p:nvSpPr>
        <p:spPr>
          <a:xfrm>
            <a:off x="785495" y="1397000"/>
            <a:ext cx="10852150" cy="4799330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24"/>
          <p:cNvSpPr txBox="1"/>
          <p:nvPr>
            <p:custDataLst>
              <p:tags r:id="rId6"/>
            </p:custDataLst>
          </p:nvPr>
        </p:nvSpPr>
        <p:spPr>
          <a:xfrm>
            <a:off x="1165225" y="1651000"/>
            <a:ext cx="9705975" cy="40309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 fontAlgn="auto" algn="l">
              <a:lnSpc>
                <a:spcPct val="115000"/>
              </a:lnSpc>
              <a:defRPr/>
            </a:pPr>
            <a:r>
              <a:rPr sz="1900" b="0">
                <a:solidFill>
                  <a:srgbClr val="2C3E50"/>
                </a:solidFill>
                <a:latin typeface="PingFang SC"/>
              </a:rPr>
              <a:t>1. 完善前端原型，补充结果展示、历史任务与错误提示</a:t>
            </a:r>
            <a:endParaRPr lang="zh-CN" altLang="en-US" sz="3200" kern="0" dirty="0">
              <a:solidFill>
                <a:srgbClr val="06276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2C3E50"/>
                </a:solidFill>
                <a:latin typeface="PingFang SC"/>
              </a:rPr>
              <a:t>2. 强化后端任务状态流转、异常处理和结果结构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2C3E50"/>
                </a:solidFill>
                <a:latin typeface="PingFang SC"/>
              </a:rPr>
              <a:t>3. 对齐 MLZero 真实产物，引入日志与最佳摘要展示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2C3E50"/>
                </a:solidFill>
                <a:latin typeface="PingFang SC"/>
              </a:rPr>
              <a:t>4. 增加分类/回归数据集验证，避免只依赖 Iris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900" b="0">
                <a:solidFill>
                  <a:srgbClr val="2C3E50"/>
                </a:solidFill>
                <a:latin typeface="PingFang SC"/>
              </a:rPr>
              <a:t>5. 尝试更强 provider，逐步减少当前兼容性兜底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85495" y="1397000"/>
            <a:ext cx="10852150" cy="479933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4" name="Picture 53" descr="slide13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85495" y="1397000"/>
            <a:ext cx="10852150" cy="479933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64852" y="1350313"/>
            <a:ext cx="6117528" cy="611752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345" y="116631"/>
            <a:ext cx="11809308" cy="522678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1345" y="116631"/>
            <a:ext cx="11809309" cy="5226782"/>
          </a:xfrm>
          <a:prstGeom prst="rect">
            <a:avLst/>
          </a:prstGeom>
          <a:solidFill>
            <a:srgbClr val="02428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949527" y="5155867"/>
            <a:ext cx="2292946" cy="38382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7" name="文本占位符 32"/>
          <p:cNvSpPr txBox="1"/>
          <p:nvPr/>
        </p:nvSpPr>
        <p:spPr>
          <a:xfrm>
            <a:off x="4791075" y="5213102"/>
            <a:ext cx="2609850" cy="296545"/>
          </a:xfrm>
          <a:prstGeom prst="rect">
            <a:avLst/>
          </a:prstGeom>
        </p:spPr>
        <p:txBody>
          <a:bodyPr vert="horz" lIns="91440" tIns="45720" rIns="91440" bIns="45720" rtlCol="0" wrap="square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800" b="0">
                <a:solidFill>
                  <a:srgbClr val="FFFFFF"/>
                </a:solidFill>
                <a:latin typeface="PingFang SC"/>
              </a:rPr>
              <a:t>2026年04月06日</a:t>
            </a: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879975" y="1131474"/>
            <a:ext cx="4918925" cy="1253932"/>
            <a:chOff x="751446" y="486412"/>
            <a:chExt cx="4918925" cy="1253932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751446" y="486412"/>
              <a:ext cx="1253932" cy="1253932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960350" y="609785"/>
              <a:ext cx="3710021" cy="607920"/>
            </a:xfrm>
            <a:prstGeom prst="rect">
              <a:avLst/>
            </a:prstGeom>
          </p:spPr>
        </p:pic>
        <p:sp>
          <p:nvSpPr>
            <p:cNvPr id="23" name="矩形 22"/>
            <p:cNvSpPr/>
            <p:nvPr/>
          </p:nvSpPr>
          <p:spPr>
            <a:xfrm>
              <a:off x="2167394" y="1226892"/>
              <a:ext cx="3502977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0" marR="0" lvl="0" indent="0" algn="dist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1400" b="1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Calibri" panose="020F0502020204030204"/>
                  <a:ea typeface="宋体" panose="02010600030101010101" pitchFamily="2" charset="-122"/>
                  <a:cs typeface="+mn-cs"/>
                </a:rPr>
                <a:t>BEIHANG UNIVERSITY</a:t>
              </a:r>
              <a:endParaRPr kumimoji="0" lang="zh-CN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8" name="文本占位符 24"/>
          <p:cNvSpPr txBox="1"/>
          <p:nvPr/>
        </p:nvSpPr>
        <p:spPr>
          <a:xfrm>
            <a:off x="191347" y="2324320"/>
            <a:ext cx="11809308" cy="141560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7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 汇报结束  感谢聆听</a:t>
            </a:r>
            <a:r>
              <a:rPr kumimoji="0" lang="zh-CN" altLang="en-US" sz="7200" b="1" i="1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！</a:t>
            </a:r>
            <a:endParaRPr kumimoji="0" lang="zh-CN" altLang="en-US" sz="7200" b="1" i="1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2567608" y="3888438"/>
            <a:ext cx="691276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39657" y="4040776"/>
            <a:ext cx="8112685" cy="734387"/>
          </a:xfrm>
          <a:prstGeom prst="rect">
            <a:avLst/>
          </a:prstGeom>
        </p:spPr>
      </p:pic>
      <p:sp>
        <p:nvSpPr>
          <p:cNvPr id="2" name="平行四边形 1"/>
          <p:cNvSpPr/>
          <p:nvPr/>
        </p:nvSpPr>
        <p:spPr>
          <a:xfrm>
            <a:off x="4949825" y="5733415"/>
            <a:ext cx="2629535" cy="875665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文本占位符 30"/>
          <p:cNvSpPr txBox="1"/>
          <p:nvPr/>
        </p:nvSpPr>
        <p:spPr>
          <a:xfrm>
            <a:off x="4791075" y="5814060"/>
            <a:ext cx="2920365" cy="701675"/>
          </a:xfrm>
          <a:prstGeom prst="rect">
            <a:avLst/>
          </a:prstGeom>
        </p:spPr>
        <p:txBody>
          <a:bodyPr vert="horz" lIns="91440" tIns="45720" rIns="91440" bIns="45720" rtlCol="0" wrap="square" anchor="t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1800" b="0">
                <a:solidFill>
                  <a:srgbClr val="FFFFFF"/>
                </a:solidFill>
                <a:latin typeface="PingFang SC"/>
              </a:rPr>
              <a:t>汇报人：王中颢</a:t>
            </a:r>
            <a:endParaRPr kumimoji="0" lang="en-US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algn="ctr">
              <a:lnSpc>
                <a:spcPct val="115000"/>
              </a:lnSpc>
            </a:pPr>
            <a:r>
              <a:rPr sz="1800" b="0">
                <a:solidFill>
                  <a:srgbClr val="FFFFFF"/>
                </a:solidFill>
                <a:latin typeface="PingFang SC"/>
              </a:rPr>
              <a:t>小组编号：7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/>
    </mc:Choice>
    <mc:Fallback>
      <p:transition spd="slow"/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2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3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4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5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6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7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8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9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10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11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12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13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14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15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16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17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18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19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20.xml><?xml version="1.0" encoding="utf-8"?>
<p:tagLst xmlns:p="http://schemas.openxmlformats.org/presentationml/2006/main">
  <p:tag name="KSO_WM_DIAGRAM_VIRTUALLY_FRAME" val="{&quot;height&quot;:435.71433070866135,&quot;left&quot;:429.1567716535433,&quot;top&quot;:64.88566929133859,&quot;width&quot;:449.2911023622047}"/>
</p:tagLst>
</file>

<file path=ppt/tags/tag21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22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23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24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25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26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27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28.xml><?xml version="1.0" encoding="utf-8"?>
<p:tagLst xmlns:p="http://schemas.openxmlformats.org/presentationml/2006/main">
  <p:tag name="KSO_WM_DIAGRAM_VIRTUALLY_FRAME" val="{&quot;height&quot;:812.5486614173229,&quot;left&quot;:60.34425196850393,&quot;top&quot;:118.45,&quot;width&quot;:840.2671653543308}"/>
</p:tagLst>
</file>

<file path=ppt/tags/tag29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30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31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32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33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34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35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36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37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38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39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40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41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42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43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44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45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46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47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48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49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50.xml><?xml version="1.0" encoding="utf-8"?>
<p:tagLst xmlns:p="http://schemas.openxmlformats.org/presentationml/2006/main">
  <p:tag name="KSO_WM_DIAGRAM_VIRTUALLY_FRAME" val="{&quot;height&quot;:812.5903363898184,&quot;left&quot;:60.34425196850393,&quot;top&quot;:118.40832502750459,&quot;width&quot;:840.2671653543308}"/>
</p:tagLst>
</file>

<file path=ppt/tags/tag51.xml><?xml version="1.0" encoding="utf-8"?>
<p:tagLst xmlns:p="http://schemas.openxmlformats.org/presentationml/2006/main">
  <p:tag name="KSO_WM_DIAGRAM_VIRTUALLY_FRAME" val="{&quot;height&quot;:820.9986614173229,&quot;left&quot;:60.34425196850393,&quot;top&quot;:110,&quot;width&quot;:856.0057480314961}"/>
</p:tagLst>
</file>

<file path=ppt/tags/tag52.xml><?xml version="1.0" encoding="utf-8"?>
<p:tagLst xmlns:p="http://schemas.openxmlformats.org/presentationml/2006/main">
  <p:tag name="KSO_WM_DIAGRAM_VIRTUALLY_FRAME" val="{&quot;height&quot;:820.9986614173229,&quot;left&quot;:60.34425196850393,&quot;top&quot;:110,&quot;width&quot;:856.0057480314961}"/>
</p:tagLst>
</file>

<file path=ppt/tags/tag53.xml><?xml version="1.0" encoding="utf-8"?>
<p:tagLst xmlns:p="http://schemas.openxmlformats.org/presentationml/2006/main">
  <p:tag name="KSO_WM_DIAGRAM_VIRTUALLY_FRAME" val="{&quot;height&quot;:820.9986614173229,&quot;left&quot;:60.34425196850393,&quot;top&quot;:110,&quot;width&quot;:856.0057480314961}"/>
</p:tagLst>
</file>

<file path=ppt/tags/tag54.xml><?xml version="1.0" encoding="utf-8"?>
<p:tagLst xmlns:p="http://schemas.openxmlformats.org/presentationml/2006/main">
  <p:tag name="KSO_WM_DIAGRAM_VIRTUALLY_FRAME" val="{&quot;height&quot;:820.9986614173229,&quot;left&quot;:60.34425196850393,&quot;top&quot;:110,&quot;width&quot;:856.0057480314961}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1143</Words>
  <Application>WPS 演示</Application>
  <PresentationFormat>宽屏</PresentationFormat>
  <Paragraphs>154</Paragraphs>
  <Slides>14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30" baseType="lpstr">
      <vt:lpstr>Arial</vt:lpstr>
      <vt:lpstr>宋体</vt:lpstr>
      <vt:lpstr>Wingdings</vt:lpstr>
      <vt:lpstr>Calibri</vt:lpstr>
      <vt:lpstr>微软雅黑</vt:lpstr>
      <vt:lpstr>等线</vt:lpstr>
      <vt:lpstr>Arial</vt:lpstr>
      <vt:lpstr>Calibri</vt:lpstr>
      <vt:lpstr>Arial Black</vt:lpstr>
      <vt:lpstr>Calibri Light</vt:lpstr>
      <vt:lpstr>方正宋刻本秀楷简体</vt:lpstr>
      <vt:lpstr>方正兰亭黑_GBK</vt:lpstr>
      <vt:lpstr>Segoe UI Light 8</vt:lpstr>
      <vt:lpstr>Segoe UI</vt:lpstr>
      <vt:lpstr>Arial Unicode MS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王硕宇</cp:lastModifiedBy>
  <cp:revision>55</cp:revision>
  <dcterms:created xsi:type="dcterms:W3CDTF">2020-07-27T01:08:00Z</dcterms:created>
  <dcterms:modified xsi:type="dcterms:W3CDTF">2026-03-29T08:47:33Z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F047DB340CC445539317AE4EF28F5C8C_12</vt:lpwstr>
  </property>
  <property fmtid="{D5CDD505-2E9C-101B-9397-08002B2CF9AE}" pid="3" name="KSOProductBuildVer">
    <vt:lpwstr>2052-12.1.0.24034</vt:lpwstr>
  </property>
</Properties>
</file>