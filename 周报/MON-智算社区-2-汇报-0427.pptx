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42" r:id="rId2"/>
    <p:sldId id="325" r:id="rId3"/>
    <p:sldId id="292" r:id="rId6"/>
    <p:sldId id="322" r:id="rId7"/>
    <p:sldId id="310" r:id="rId12"/>
    <p:sldId id="323" r:id="rId15"/>
    <p:sldId id="333" r:id="rId19"/>
    <p:sldId id="334" r:id="rId20"/>
    <p:sldId id="330" r:id="rId23"/>
    <p:sldId id="345" r:id="rId25"/>
    <p:sldId id="340" r:id="rId26"/>
    <p:sldId id="338" r:id="rId28"/>
  </p:sldIdLst>
  <p:sldSz cx="9144000" cy="5143500" type="screen16x9"/>
  <p:notesSz cx="6858000" cy="9144000"/>
  <p:embeddedFontLst>
    <p:embeddedFont>
      <p:font typeface="方正正纤黑简体" panose="02010600030101010101" charset="-122"/>
      <p:regular r:id="rId31"/>
    </p:embeddedFont>
    <p:embeddedFont>
      <p:font typeface="Segoe UI Semilight" panose="020B0402040204020203" pitchFamily="34" charset="0"/>
      <p:regular r:id="rId32"/>
      <p:italic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方正正黑简体" panose="02010600030101010101" charset="-122"/>
      <p:regular r:id="rId38"/>
    </p:embeddedFont>
    <p:embeddedFont>
      <p:font typeface="微软雅黑" panose="020B0503020204020204" pitchFamily="34" charset="-122"/>
      <p:regular r:id="rId39"/>
      <p:bold r:id="rId40"/>
    </p:embeddedFont>
  </p:embeddedFontLst>
  <p:defaultTextStyle>
    <a:defPPr>
      <a:defRPr lang="zh-CN"/>
    </a:defPPr>
    <a:lvl1pPr marL="0" lvl="0" indent="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1pPr>
    <a:lvl2pPr marL="342900" lvl="1" indent="1143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2pPr>
    <a:lvl3pPr marL="685800" lvl="2" indent="2286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3pPr>
    <a:lvl4pPr marL="1028700" lvl="3" indent="3429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4pPr>
    <a:lvl5pPr marL="1371600" lvl="4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5pPr>
    <a:lvl6pPr marL="2286000" lvl="5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6pPr>
    <a:lvl7pPr marL="2743200" lvl="6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7pPr>
    <a:lvl8pPr marL="3200400" lvl="7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8pPr>
    <a:lvl9pPr marL="3657600" lvl="8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/>
    <p:restoredTop sz="97703" autoAdjust="0"/>
  </p:normalViewPr>
  <p:slideViewPr>
    <p:cSldViewPr snapToGrid="0" showGuides="1">
      <p:cViewPr varScale="1">
        <p:scale>
          <a:sx n="118" d="100"/>
          <a:sy n="118" d="100"/>
        </p:scale>
        <p:origin x="108" y="24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255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3" Type="http://schemas.openxmlformats.org/officeDocument/2006/relationships/slide" Target="slides/slide22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Relationship Id="rId37" Type="http://schemas.openxmlformats.org/officeDocument/2006/relationships/font" Target="fonts/font7.fntdata"/><Relationship Id="rId38" Type="http://schemas.openxmlformats.org/officeDocument/2006/relationships/font" Target="fonts/font8.fntdata"/><Relationship Id="rId39" Type="http://schemas.openxmlformats.org/officeDocument/2006/relationships/font" Target="fonts/font9.fntdata"/><Relationship Id="rId40" Type="http://schemas.openxmlformats.org/officeDocument/2006/relationships/font" Target="fonts/font10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2019/7/11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4370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z="1200" strike="noStrike" noProof="1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51416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1331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zh-CN" altLang="en-US" dirty="0" smtClean="0"/>
              <a:t> 猪七爷旗舰店</a:t>
            </a:r>
            <a:r>
              <a:rPr lang="en-US" altLang="zh-CN" dirty="0" smtClean="0"/>
              <a:t>猪七爷</a:t>
            </a:r>
            <a:endParaRPr lang="en-US" altLang="zh-CN" dirty="0"/>
          </a:p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889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7505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id-ID" altLang="zh-CN" dirty="0"/>
          </a:p>
        </p:txBody>
      </p:sp>
      <p:sp>
        <p:nvSpPr>
          <p:cNvPr id="21507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>
                <a:latin typeface="Calibri" panose="020F0502020204030204" pitchFamily="34" charset="0"/>
                <a:ea typeface="宋体" panose="02010600030101010101" pitchFamily="2" charset="-122"/>
              </a:rPr>
              <a:t>5</a:t>
            </a:fld>
            <a:endParaRPr lang="en-US" altLang="zh-CN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7598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2355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355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6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639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379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379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46278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3993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993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38141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81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81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163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017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01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19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37797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5632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63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95740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04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04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30345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246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246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25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41048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65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65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96267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5588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987" y="99972"/>
            <a:ext cx="2070277" cy="3936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1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500">
                <a:ea typeface="微软雅黑" panose="020B0503020204020204" pitchFamily="34" charset="-122"/>
              </a:defRPr>
            </a:lvl4pPr>
            <a:lvl5pPr>
              <a:defRPr sz="1500">
                <a:ea typeface="微软雅黑" panose="020B0503020204020204" pitchFamily="34" charset="-122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>
                <a:ea typeface="微软雅黑" panose="020B0503020204020204" pitchFamily="34" charset="-122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单击图标添加图片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emf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emf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emf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emf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emf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emf"/><Relationship Id="rId4" Type="http://schemas.openxmlformats.org/officeDocument/2006/relationships/image" Target="../media/image4.emf"/><Relationship Id="rId5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emf"/><Relationship Id="rId4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emf"/><Relationship Id="rId4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emf"/><Relationship Id="rId4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em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文本框 213"/>
          <p:cNvSpPr txBox="1"/>
          <p:nvPr/>
        </p:nvSpPr>
        <p:spPr>
          <a:xfrm>
            <a:off x="1757362" y="1968500"/>
            <a:ext cx="5824875" cy="76944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t>“智算”AI4ML 社区</a:t>
            </a:r>
          </a:p>
          <a:p>
            <a:pPr algn="l"/>
            <a:r>
              <a:t>第5周项目汇报</a:t>
            </a:r>
          </a:p>
        </p:txBody>
      </p:sp>
      <p:sp>
        <p:nvSpPr>
          <p:cNvPr id="216" name="文本框 215"/>
          <p:cNvSpPr txBox="1"/>
          <p:nvPr/>
        </p:nvSpPr>
        <p:spPr>
          <a:xfrm>
            <a:off x="2151062" y="3385225"/>
            <a:ext cx="2370138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/>
              <a:t>项目组：王文浩、王硕宇、王中颢、李宗欣、姜炳丞、王梓琛</a:t>
            </a:r>
          </a:p>
        </p:txBody>
      </p:sp>
      <p:sp>
        <p:nvSpPr>
          <p:cNvPr id="217" name="文本框 216"/>
          <p:cNvSpPr txBox="1"/>
          <p:nvPr/>
        </p:nvSpPr>
        <p:spPr>
          <a:xfrm>
            <a:off x="4680744" y="3385225"/>
            <a:ext cx="2371725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/>
              <a:t>汇报周期：2026年4月20日 - 2026年4月26日</a:t>
            </a:r>
          </a:p>
        </p:txBody>
      </p:sp>
      <p:sp>
        <p:nvSpPr>
          <p:cNvPr id="218" name="矩形 217"/>
          <p:cNvSpPr/>
          <p:nvPr/>
        </p:nvSpPr>
        <p:spPr>
          <a:xfrm>
            <a:off x="2727325" y="2787650"/>
            <a:ext cx="896938" cy="8255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3624263" y="2787650"/>
            <a:ext cx="896938" cy="8255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4521200" y="2792413"/>
            <a:ext cx="896938" cy="8255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5418138" y="2794000"/>
            <a:ext cx="896938" cy="84138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963" y="990094"/>
            <a:ext cx="3606349" cy="685714"/>
          </a:xfrm>
          <a:prstGeom prst="rect">
            <a:avLst/>
          </a:prstGeom>
        </p:spPr>
      </p:pic>
    </p:spTree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decel="667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decel="667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decel="667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decel="667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300"/>
                            </p:stCondLst>
                            <p:childTnLst>
                              <p:par>
                                <p:cTn id="2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00"/>
                            </p:stCondLst>
                            <p:childTnLst>
                              <p:par>
                                <p:cTn id="3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/>
      <p:bldP spid="216" grpId="0"/>
      <p:bldP spid="217" grpId="0"/>
      <p:bldP spid="218" grpId="0" animBg="1"/>
      <p:bldP spid="219" grpId="0" animBg="1"/>
      <p:bldP spid="220" grpId="0" animBg="1"/>
      <p:bldP spid="2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282575" y="1746250"/>
            <a:ext cx="2765425" cy="963613"/>
            <a:chOff x="219753" y="1976522"/>
            <a:chExt cx="2765362" cy="964005"/>
          </a:xfrm>
        </p:grpSpPr>
        <p:sp>
          <p:nvSpPr>
            <p:cNvPr id="14338" name="文本框 38"/>
            <p:cNvSpPr txBox="1"/>
            <p:nvPr/>
          </p:nvSpPr>
          <p:spPr>
            <a:xfrm>
              <a:off x="219753" y="2417307"/>
              <a:ext cx="2741158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39" name="文本框 11"/>
            <p:cNvSpPr txBox="1"/>
            <p:nvPr/>
          </p:nvSpPr>
          <p:spPr>
            <a:xfrm>
              <a:off x="1979712" y="1976522"/>
              <a:ext cx="1005403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</p:grpSp>
      <p:sp>
        <p:nvSpPr>
          <p:cNvPr id="71" name="文本框 18"/>
          <p:cNvSpPr txBox="1"/>
          <p:nvPr/>
        </p:nvSpPr>
        <p:spPr>
          <a:xfrm>
            <a:off x="4052888" y="1890713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t>项目概述</a:t>
            </a:r>
          </a:p>
        </p:txBody>
      </p:sp>
      <p:grpSp>
        <p:nvGrpSpPr>
          <p:cNvPr id="72" name="组合 71"/>
          <p:cNvGrpSpPr/>
          <p:nvPr/>
        </p:nvGrpSpPr>
        <p:grpSpPr>
          <a:xfrm>
            <a:off x="3578225" y="1817688"/>
            <a:ext cx="466725" cy="523875"/>
            <a:chOff x="3516783" y="2047768"/>
            <a:chExt cx="466304" cy="523220"/>
          </a:xfrm>
        </p:grpSpPr>
        <p:sp>
          <p:nvSpPr>
            <p:cNvPr id="14342" name="文本框 16"/>
            <p:cNvSpPr txBox="1"/>
            <p:nvPr/>
          </p:nvSpPr>
          <p:spPr>
            <a:xfrm>
              <a:off x="3516783" y="2047768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4" name="直接连接符 73"/>
            <p:cNvCxnSpPr/>
            <p:nvPr/>
          </p:nvCxnSpPr>
          <p:spPr>
            <a:xfrm flipH="1">
              <a:off x="3737247" y="2226931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文本框 21"/>
          <p:cNvSpPr txBox="1"/>
          <p:nvPr/>
        </p:nvSpPr>
        <p:spPr>
          <a:xfrm>
            <a:off x="6638925" y="1916113"/>
            <a:ext cx="11080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t>阶段进展</a:t>
            </a:r>
          </a:p>
        </p:txBody>
      </p:sp>
      <p:grpSp>
        <p:nvGrpSpPr>
          <p:cNvPr id="76" name="组合 75"/>
          <p:cNvGrpSpPr/>
          <p:nvPr/>
        </p:nvGrpSpPr>
        <p:grpSpPr>
          <a:xfrm>
            <a:off x="6135688" y="1827213"/>
            <a:ext cx="496887" cy="523875"/>
            <a:chOff x="6073087" y="2057986"/>
            <a:chExt cx="497639" cy="523220"/>
          </a:xfrm>
        </p:grpSpPr>
        <p:sp>
          <p:nvSpPr>
            <p:cNvPr id="14346" name="文本框 20"/>
            <p:cNvSpPr txBox="1"/>
            <p:nvPr/>
          </p:nvSpPr>
          <p:spPr>
            <a:xfrm>
              <a:off x="6073087" y="2057986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8" name="直接连接符 77"/>
            <p:cNvCxnSpPr/>
            <p:nvPr/>
          </p:nvCxnSpPr>
          <p:spPr>
            <a:xfrm flipH="1">
              <a:off x="6324292" y="2227636"/>
              <a:ext cx="246434" cy="24575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文本框 24"/>
          <p:cNvSpPr txBox="1"/>
          <p:nvPr/>
        </p:nvSpPr>
        <p:spPr>
          <a:xfrm>
            <a:off x="4052888" y="2470150"/>
            <a:ext cx="1108075" cy="3698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t>本周完成</a:t>
            </a:r>
          </a:p>
        </p:txBody>
      </p:sp>
      <p:grpSp>
        <p:nvGrpSpPr>
          <p:cNvPr id="80" name="组合 79"/>
          <p:cNvGrpSpPr/>
          <p:nvPr/>
        </p:nvGrpSpPr>
        <p:grpSpPr>
          <a:xfrm>
            <a:off x="3578225" y="2397125"/>
            <a:ext cx="466725" cy="523875"/>
            <a:chOff x="3516783" y="2627150"/>
            <a:chExt cx="466304" cy="523220"/>
          </a:xfrm>
        </p:grpSpPr>
        <p:sp>
          <p:nvSpPr>
            <p:cNvPr id="14350" name="文本框 23"/>
            <p:cNvSpPr txBox="1"/>
            <p:nvPr/>
          </p:nvSpPr>
          <p:spPr>
            <a:xfrm>
              <a:off x="3516783" y="2627150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 flipH="1">
              <a:off x="3737247" y="2806314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文本框 27"/>
          <p:cNvSpPr txBox="1"/>
          <p:nvPr/>
        </p:nvSpPr>
        <p:spPr>
          <a:xfrm>
            <a:off x="6638925" y="2493963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t>当前系统</a:t>
            </a:r>
          </a:p>
        </p:txBody>
      </p:sp>
      <p:grpSp>
        <p:nvGrpSpPr>
          <p:cNvPr id="84" name="组合 83"/>
          <p:cNvGrpSpPr/>
          <p:nvPr/>
        </p:nvGrpSpPr>
        <p:grpSpPr>
          <a:xfrm>
            <a:off x="6135688" y="2406650"/>
            <a:ext cx="496887" cy="523875"/>
            <a:chOff x="6073087" y="2637368"/>
            <a:chExt cx="497639" cy="523220"/>
          </a:xfrm>
        </p:grpSpPr>
        <p:sp>
          <p:nvSpPr>
            <p:cNvPr id="14354" name="文本框 26"/>
            <p:cNvSpPr txBox="1"/>
            <p:nvPr/>
          </p:nvSpPr>
          <p:spPr>
            <a:xfrm>
              <a:off x="6073087" y="2637368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6" name="直接连接符 85"/>
            <p:cNvCxnSpPr/>
            <p:nvPr/>
          </p:nvCxnSpPr>
          <p:spPr>
            <a:xfrm flipH="1">
              <a:off x="6324292" y="2807019"/>
              <a:ext cx="246434" cy="24575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文本框 30"/>
          <p:cNvSpPr txBox="1"/>
          <p:nvPr/>
        </p:nvSpPr>
        <p:spPr>
          <a:xfrm>
            <a:off x="4052888" y="3043238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t>风险计划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3578225" y="2970213"/>
            <a:ext cx="466725" cy="523875"/>
            <a:chOff x="3516783" y="3200893"/>
            <a:chExt cx="466304" cy="523220"/>
          </a:xfrm>
        </p:grpSpPr>
        <p:sp>
          <p:nvSpPr>
            <p:cNvPr id="14358" name="文本框 29"/>
            <p:cNvSpPr txBox="1"/>
            <p:nvPr/>
          </p:nvSpPr>
          <p:spPr>
            <a:xfrm>
              <a:off x="3516783" y="3200893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0" name="直接连接符 89"/>
            <p:cNvCxnSpPr/>
            <p:nvPr/>
          </p:nvCxnSpPr>
          <p:spPr>
            <a:xfrm flipH="1">
              <a:off x="3737247" y="3380056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文本框 33"/>
          <p:cNvSpPr txBox="1"/>
          <p:nvPr/>
        </p:nvSpPr>
        <p:spPr>
          <a:xfrm>
            <a:off x="6638925" y="3068638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t>阶段结论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6135688" y="2981325"/>
            <a:ext cx="496887" cy="522288"/>
            <a:chOff x="6073087" y="3211111"/>
            <a:chExt cx="497639" cy="523220"/>
          </a:xfrm>
        </p:grpSpPr>
        <p:sp>
          <p:nvSpPr>
            <p:cNvPr id="14362" name="文本框 32"/>
            <p:cNvSpPr txBox="1"/>
            <p:nvPr/>
          </p:nvSpPr>
          <p:spPr>
            <a:xfrm>
              <a:off x="6073087" y="3211111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4" name="直接连接符 93"/>
            <p:cNvCxnSpPr/>
            <p:nvPr/>
          </p:nvCxnSpPr>
          <p:spPr>
            <a:xfrm flipH="1">
              <a:off x="6324292" y="3381277"/>
              <a:ext cx="246434" cy="24491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>
            <a:off x="3340100" y="1909763"/>
            <a:ext cx="0" cy="15462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3 0.04136 L 2.22222E-6 -9.87654E-7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6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3 0.04104 L 2.22222E-6 4.69136E-6 " pathEditMode="relative" rAng="0" ptsTypes="AA">
                                      <p:cBhvr>
                                        <p:cTn id="27" dur="7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6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3 0.04104 L 2.22222E-6 4.93827E-6 " pathEditMode="relative" rAng="0" ptsTypes="AA">
                                      <p:cBhvr>
                                        <p:cTn id="35" dur="7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6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733 0.04136 L 2.22222E-6 -2.83951E-6 " pathEditMode="relative" rAng="0" ptsTypes="AA">
                                      <p:cBhvr>
                                        <p:cTn id="43" dur="7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6" presetClass="path" presetSubtype="0" accel="50000" decel="5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0.03733 0.04105 L 2.22222E-6 2.83951E-6 " pathEditMode="relative" rAng="0" ptsTypes="AA">
                                      <p:cBhvr>
                                        <p:cTn id="51" dur="7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6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3733 0.04105 L 2.22222E-6 3.08642E-6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5" grpId="0"/>
      <p:bldP spid="79" grpId="0"/>
      <p:bldP spid="83" grpId="0"/>
      <p:bldP spid="87" grpId="0"/>
      <p:bldP spid="9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图片 3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" name="文本框 31"/>
          <p:cNvSpPr txBox="1"/>
          <p:nvPr/>
        </p:nvSpPr>
        <p:spPr>
          <a:xfrm>
            <a:off x="411163" y="358775"/>
            <a:ext cx="1760538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项目背景与 Alpha 目标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928688" y="1857375"/>
            <a:ext cx="1743075" cy="2524125"/>
            <a:chOff x="928083" y="1857377"/>
            <a:chExt cx="1744093" cy="2524125"/>
          </a:xfrm>
        </p:grpSpPr>
        <p:sp>
          <p:nvSpPr>
            <p:cNvPr id="34" name="任意多边形 33"/>
            <p:cNvSpPr/>
            <p:nvPr/>
          </p:nvSpPr>
          <p:spPr>
            <a:xfrm>
              <a:off x="928083" y="1857377"/>
              <a:ext cx="1744093" cy="2524125"/>
            </a:xfrm>
            <a:custGeom>
              <a:avLst/>
              <a:gdLst>
                <a:gd name="connsiteX0" fmla="*/ 0 w 1744093"/>
                <a:gd name="connsiteY0" fmla="*/ 174409 h 2524125"/>
                <a:gd name="connsiteX1" fmla="*/ 174409 w 1744093"/>
                <a:gd name="connsiteY1" fmla="*/ 0 h 2524125"/>
                <a:gd name="connsiteX2" fmla="*/ 1569684 w 1744093"/>
                <a:gd name="connsiteY2" fmla="*/ 0 h 2524125"/>
                <a:gd name="connsiteX3" fmla="*/ 1744093 w 1744093"/>
                <a:gd name="connsiteY3" fmla="*/ 174409 h 2524125"/>
                <a:gd name="connsiteX4" fmla="*/ 1744093 w 1744093"/>
                <a:gd name="connsiteY4" fmla="*/ 2349716 h 2524125"/>
                <a:gd name="connsiteX5" fmla="*/ 1569684 w 1744093"/>
                <a:gd name="connsiteY5" fmla="*/ 2524125 h 2524125"/>
                <a:gd name="connsiteX6" fmla="*/ 174409 w 1744093"/>
                <a:gd name="connsiteY6" fmla="*/ 2524125 h 2524125"/>
                <a:gd name="connsiteX7" fmla="*/ 0 w 1744093"/>
                <a:gd name="connsiteY7" fmla="*/ 2349716 h 2524125"/>
                <a:gd name="connsiteX8" fmla="*/ 0 w 1744093"/>
                <a:gd name="connsiteY8" fmla="*/ 174409 h 2524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093" h="2524125">
                  <a:moveTo>
                    <a:pt x="0" y="174409"/>
                  </a:moveTo>
                  <a:cubicBezTo>
                    <a:pt x="0" y="78086"/>
                    <a:pt x="78086" y="0"/>
                    <a:pt x="174409" y="0"/>
                  </a:cubicBezTo>
                  <a:lnTo>
                    <a:pt x="1569684" y="0"/>
                  </a:lnTo>
                  <a:cubicBezTo>
                    <a:pt x="1666007" y="0"/>
                    <a:pt x="1744093" y="78086"/>
                    <a:pt x="1744093" y="174409"/>
                  </a:cubicBezTo>
                  <a:lnTo>
                    <a:pt x="1744093" y="2349716"/>
                  </a:lnTo>
                  <a:cubicBezTo>
                    <a:pt x="1744093" y="2446039"/>
                    <a:pt x="1666007" y="2524125"/>
                    <a:pt x="1569684" y="2524125"/>
                  </a:cubicBezTo>
                  <a:lnTo>
                    <a:pt x="174409" y="2524125"/>
                  </a:lnTo>
                  <a:cubicBezTo>
                    <a:pt x="78086" y="2524125"/>
                    <a:pt x="0" y="2446039"/>
                    <a:pt x="0" y="2349716"/>
                  </a:cubicBezTo>
                  <a:lnTo>
                    <a:pt x="0" y="17440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76200" tIns="76200" rIns="76200" bIns="1843088" spcCol="1270" anchor="ctr"/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标题一</a:t>
              </a:r>
            </a:p>
          </p:txBody>
        </p:sp>
        <p:sp>
          <p:nvSpPr>
            <p:cNvPr id="35" name="任意多边形 34"/>
            <p:cNvSpPr/>
            <p:nvPr/>
          </p:nvSpPr>
          <p:spPr>
            <a:xfrm>
              <a:off x="1102492" y="2614676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1102492" y="3038958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45" name="任意多边形 44"/>
            <p:cNvSpPr/>
            <p:nvPr/>
          </p:nvSpPr>
          <p:spPr>
            <a:xfrm>
              <a:off x="1102492" y="3463240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46" name="任意多边形 45"/>
            <p:cNvSpPr/>
            <p:nvPr/>
          </p:nvSpPr>
          <p:spPr>
            <a:xfrm>
              <a:off x="1102492" y="3887522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2803525" y="1857375"/>
            <a:ext cx="1743075" cy="2524125"/>
            <a:chOff x="2802983" y="1857377"/>
            <a:chExt cx="1744093" cy="2524125"/>
          </a:xfrm>
        </p:grpSpPr>
        <p:sp>
          <p:nvSpPr>
            <p:cNvPr id="48" name="任意多边形 47"/>
            <p:cNvSpPr/>
            <p:nvPr/>
          </p:nvSpPr>
          <p:spPr>
            <a:xfrm>
              <a:off x="2802983" y="1857377"/>
              <a:ext cx="1744093" cy="2524125"/>
            </a:xfrm>
            <a:custGeom>
              <a:avLst/>
              <a:gdLst>
                <a:gd name="connsiteX0" fmla="*/ 0 w 1744093"/>
                <a:gd name="connsiteY0" fmla="*/ 174409 h 2524125"/>
                <a:gd name="connsiteX1" fmla="*/ 174409 w 1744093"/>
                <a:gd name="connsiteY1" fmla="*/ 0 h 2524125"/>
                <a:gd name="connsiteX2" fmla="*/ 1569684 w 1744093"/>
                <a:gd name="connsiteY2" fmla="*/ 0 h 2524125"/>
                <a:gd name="connsiteX3" fmla="*/ 1744093 w 1744093"/>
                <a:gd name="connsiteY3" fmla="*/ 174409 h 2524125"/>
                <a:gd name="connsiteX4" fmla="*/ 1744093 w 1744093"/>
                <a:gd name="connsiteY4" fmla="*/ 2349716 h 2524125"/>
                <a:gd name="connsiteX5" fmla="*/ 1569684 w 1744093"/>
                <a:gd name="connsiteY5" fmla="*/ 2524125 h 2524125"/>
                <a:gd name="connsiteX6" fmla="*/ 174409 w 1744093"/>
                <a:gd name="connsiteY6" fmla="*/ 2524125 h 2524125"/>
                <a:gd name="connsiteX7" fmla="*/ 0 w 1744093"/>
                <a:gd name="connsiteY7" fmla="*/ 2349716 h 2524125"/>
                <a:gd name="connsiteX8" fmla="*/ 0 w 1744093"/>
                <a:gd name="connsiteY8" fmla="*/ 174409 h 2524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093" h="2524125">
                  <a:moveTo>
                    <a:pt x="0" y="174409"/>
                  </a:moveTo>
                  <a:cubicBezTo>
                    <a:pt x="0" y="78086"/>
                    <a:pt x="78086" y="0"/>
                    <a:pt x="174409" y="0"/>
                  </a:cubicBezTo>
                  <a:lnTo>
                    <a:pt x="1569684" y="0"/>
                  </a:lnTo>
                  <a:cubicBezTo>
                    <a:pt x="1666007" y="0"/>
                    <a:pt x="1744093" y="78086"/>
                    <a:pt x="1744093" y="174409"/>
                  </a:cubicBezTo>
                  <a:lnTo>
                    <a:pt x="1744093" y="2349716"/>
                  </a:lnTo>
                  <a:cubicBezTo>
                    <a:pt x="1744093" y="2446039"/>
                    <a:pt x="1666007" y="2524125"/>
                    <a:pt x="1569684" y="2524125"/>
                  </a:cubicBezTo>
                  <a:lnTo>
                    <a:pt x="174409" y="2524125"/>
                  </a:lnTo>
                  <a:cubicBezTo>
                    <a:pt x="78086" y="2524125"/>
                    <a:pt x="0" y="2446039"/>
                    <a:pt x="0" y="2349716"/>
                  </a:cubicBezTo>
                  <a:lnTo>
                    <a:pt x="0" y="17440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76200" tIns="76200" rIns="76200" bIns="1843088" spcCol="1270" anchor="ctr"/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标题二</a:t>
              </a:r>
            </a:p>
          </p:txBody>
        </p:sp>
        <p:sp>
          <p:nvSpPr>
            <p:cNvPr id="49" name="任意多边形 48"/>
            <p:cNvSpPr/>
            <p:nvPr/>
          </p:nvSpPr>
          <p:spPr>
            <a:xfrm>
              <a:off x="2977393" y="2614676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50" name="任意多边形 49"/>
            <p:cNvSpPr/>
            <p:nvPr/>
          </p:nvSpPr>
          <p:spPr>
            <a:xfrm>
              <a:off x="2977393" y="3038958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51" name="任意多边形 50"/>
            <p:cNvSpPr/>
            <p:nvPr/>
          </p:nvSpPr>
          <p:spPr>
            <a:xfrm>
              <a:off x="2977393" y="3463240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52" name="任意多边形 51"/>
            <p:cNvSpPr/>
            <p:nvPr/>
          </p:nvSpPr>
          <p:spPr>
            <a:xfrm>
              <a:off x="2977393" y="3887522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4678363" y="1857375"/>
            <a:ext cx="1743075" cy="2524125"/>
            <a:chOff x="4677884" y="1857377"/>
            <a:chExt cx="1744093" cy="2524125"/>
          </a:xfrm>
        </p:grpSpPr>
        <p:sp>
          <p:nvSpPr>
            <p:cNvPr id="54" name="任意多边形 53"/>
            <p:cNvSpPr/>
            <p:nvPr/>
          </p:nvSpPr>
          <p:spPr>
            <a:xfrm>
              <a:off x="4677884" y="1857377"/>
              <a:ext cx="1744093" cy="2524125"/>
            </a:xfrm>
            <a:custGeom>
              <a:avLst/>
              <a:gdLst>
                <a:gd name="connsiteX0" fmla="*/ 0 w 1744093"/>
                <a:gd name="connsiteY0" fmla="*/ 174409 h 2524125"/>
                <a:gd name="connsiteX1" fmla="*/ 174409 w 1744093"/>
                <a:gd name="connsiteY1" fmla="*/ 0 h 2524125"/>
                <a:gd name="connsiteX2" fmla="*/ 1569684 w 1744093"/>
                <a:gd name="connsiteY2" fmla="*/ 0 h 2524125"/>
                <a:gd name="connsiteX3" fmla="*/ 1744093 w 1744093"/>
                <a:gd name="connsiteY3" fmla="*/ 174409 h 2524125"/>
                <a:gd name="connsiteX4" fmla="*/ 1744093 w 1744093"/>
                <a:gd name="connsiteY4" fmla="*/ 2349716 h 2524125"/>
                <a:gd name="connsiteX5" fmla="*/ 1569684 w 1744093"/>
                <a:gd name="connsiteY5" fmla="*/ 2524125 h 2524125"/>
                <a:gd name="connsiteX6" fmla="*/ 174409 w 1744093"/>
                <a:gd name="connsiteY6" fmla="*/ 2524125 h 2524125"/>
                <a:gd name="connsiteX7" fmla="*/ 0 w 1744093"/>
                <a:gd name="connsiteY7" fmla="*/ 2349716 h 2524125"/>
                <a:gd name="connsiteX8" fmla="*/ 0 w 1744093"/>
                <a:gd name="connsiteY8" fmla="*/ 174409 h 2524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093" h="2524125">
                  <a:moveTo>
                    <a:pt x="0" y="174409"/>
                  </a:moveTo>
                  <a:cubicBezTo>
                    <a:pt x="0" y="78086"/>
                    <a:pt x="78086" y="0"/>
                    <a:pt x="174409" y="0"/>
                  </a:cubicBezTo>
                  <a:lnTo>
                    <a:pt x="1569684" y="0"/>
                  </a:lnTo>
                  <a:cubicBezTo>
                    <a:pt x="1666007" y="0"/>
                    <a:pt x="1744093" y="78086"/>
                    <a:pt x="1744093" y="174409"/>
                  </a:cubicBezTo>
                  <a:lnTo>
                    <a:pt x="1744093" y="2349716"/>
                  </a:lnTo>
                  <a:cubicBezTo>
                    <a:pt x="1744093" y="2446039"/>
                    <a:pt x="1666007" y="2524125"/>
                    <a:pt x="1569684" y="2524125"/>
                  </a:cubicBezTo>
                  <a:lnTo>
                    <a:pt x="174409" y="2524125"/>
                  </a:lnTo>
                  <a:cubicBezTo>
                    <a:pt x="78086" y="2524125"/>
                    <a:pt x="0" y="2446039"/>
                    <a:pt x="0" y="2349716"/>
                  </a:cubicBezTo>
                  <a:lnTo>
                    <a:pt x="0" y="17440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76200" tIns="76200" rIns="76200" bIns="1843088" spcCol="1270" anchor="ctr"/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标题三</a:t>
              </a:r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4852293" y="2614676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4852293" y="3038958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57" name="任意多边形 56"/>
            <p:cNvSpPr/>
            <p:nvPr/>
          </p:nvSpPr>
          <p:spPr>
            <a:xfrm>
              <a:off x="4852293" y="3463240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4852293" y="3887522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6553200" y="1857375"/>
            <a:ext cx="1743075" cy="2524125"/>
            <a:chOff x="6552785" y="1857377"/>
            <a:chExt cx="1744093" cy="2524125"/>
          </a:xfrm>
        </p:grpSpPr>
        <p:sp>
          <p:nvSpPr>
            <p:cNvPr id="60" name="任意多边形 59"/>
            <p:cNvSpPr/>
            <p:nvPr/>
          </p:nvSpPr>
          <p:spPr>
            <a:xfrm>
              <a:off x="6552785" y="1857377"/>
              <a:ext cx="1744093" cy="2524125"/>
            </a:xfrm>
            <a:custGeom>
              <a:avLst/>
              <a:gdLst>
                <a:gd name="connsiteX0" fmla="*/ 0 w 1744093"/>
                <a:gd name="connsiteY0" fmla="*/ 174409 h 2524125"/>
                <a:gd name="connsiteX1" fmla="*/ 174409 w 1744093"/>
                <a:gd name="connsiteY1" fmla="*/ 0 h 2524125"/>
                <a:gd name="connsiteX2" fmla="*/ 1569684 w 1744093"/>
                <a:gd name="connsiteY2" fmla="*/ 0 h 2524125"/>
                <a:gd name="connsiteX3" fmla="*/ 1744093 w 1744093"/>
                <a:gd name="connsiteY3" fmla="*/ 174409 h 2524125"/>
                <a:gd name="connsiteX4" fmla="*/ 1744093 w 1744093"/>
                <a:gd name="connsiteY4" fmla="*/ 2349716 h 2524125"/>
                <a:gd name="connsiteX5" fmla="*/ 1569684 w 1744093"/>
                <a:gd name="connsiteY5" fmla="*/ 2524125 h 2524125"/>
                <a:gd name="connsiteX6" fmla="*/ 174409 w 1744093"/>
                <a:gd name="connsiteY6" fmla="*/ 2524125 h 2524125"/>
                <a:gd name="connsiteX7" fmla="*/ 0 w 1744093"/>
                <a:gd name="connsiteY7" fmla="*/ 2349716 h 2524125"/>
                <a:gd name="connsiteX8" fmla="*/ 0 w 1744093"/>
                <a:gd name="connsiteY8" fmla="*/ 174409 h 2524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093" h="2524125">
                  <a:moveTo>
                    <a:pt x="0" y="174409"/>
                  </a:moveTo>
                  <a:cubicBezTo>
                    <a:pt x="0" y="78086"/>
                    <a:pt x="78086" y="0"/>
                    <a:pt x="174409" y="0"/>
                  </a:cubicBezTo>
                  <a:lnTo>
                    <a:pt x="1569684" y="0"/>
                  </a:lnTo>
                  <a:cubicBezTo>
                    <a:pt x="1666007" y="0"/>
                    <a:pt x="1744093" y="78086"/>
                    <a:pt x="1744093" y="174409"/>
                  </a:cubicBezTo>
                  <a:lnTo>
                    <a:pt x="1744093" y="2349716"/>
                  </a:lnTo>
                  <a:cubicBezTo>
                    <a:pt x="1744093" y="2446039"/>
                    <a:pt x="1666007" y="2524125"/>
                    <a:pt x="1569684" y="2524125"/>
                  </a:cubicBezTo>
                  <a:lnTo>
                    <a:pt x="174409" y="2524125"/>
                  </a:lnTo>
                  <a:cubicBezTo>
                    <a:pt x="78086" y="2524125"/>
                    <a:pt x="0" y="2446039"/>
                    <a:pt x="0" y="2349716"/>
                  </a:cubicBezTo>
                  <a:lnTo>
                    <a:pt x="0" y="17440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76200" tIns="76200" rIns="76200" bIns="1843088" spcCol="1270" anchor="ctr"/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标题四</a:t>
              </a:r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6727194" y="2614676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6727194" y="3038958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63" name="任意多边形 62"/>
            <p:cNvSpPr/>
            <p:nvPr/>
          </p:nvSpPr>
          <p:spPr>
            <a:xfrm>
              <a:off x="6727194" y="3463240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64" name="任意多边形 63"/>
            <p:cNvSpPr/>
            <p:nvPr/>
          </p:nvSpPr>
          <p:spPr>
            <a:xfrm>
              <a:off x="6727194" y="3887522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</p:grpSp>
      <p:sp>
        <p:nvSpPr>
          <p:cNvPr id="65" name="TextBox 29"/>
          <p:cNvSpPr txBox="1"/>
          <p:nvPr/>
        </p:nvSpPr>
        <p:spPr>
          <a:xfrm>
            <a:off x="498475" y="985838"/>
            <a:ext cx="8267700" cy="549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/>
              <a:t>• 项目定位：面向低代码 / 零代码机器学习场景，建设支持自然语言 + CSV 驱动任务执行的 AI4ML 社区平台。</a:t>
            </a:r>
          </a:p>
          <a:p>
            <a:pPr algn="l"/>
            <a:r>
              <a:rPr sz="2000"/>
              <a:t>• Alpha 主链路：团队登录 → 选择 AI 连接器 → 上传 CSV → AI 解析 → MLZero 运行 → 查看结果与 Token。</a:t>
            </a:r>
          </a:p>
          <a:p>
            <a:pPr algn="l"/>
            <a:r>
              <a:rPr sz="2000"/>
              <a:t>• 本周定位：在第4周“单人可跑”的最小闭环基础上，补齐协作身份、连接器管理、结果明细与统计展示。</a:t>
            </a:r>
          </a:p>
          <a:p>
            <a:pPr algn="l"/>
            <a:r>
              <a:rPr sz="2000"/>
              <a:t>• 当前目标：把系统推进到可演示、可协作、可继续联调的 Alpha 候选版。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212" y="51218"/>
            <a:ext cx="1617521" cy="307557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667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667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667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58775"/>
            <a:ext cx="1760538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本周目标与推进重点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419225" y="1270000"/>
            <a:ext cx="1214438" cy="2355850"/>
            <a:chOff x="1419709" y="1270654"/>
            <a:chExt cx="1213553" cy="2354901"/>
          </a:xfrm>
        </p:grpSpPr>
        <p:sp>
          <p:nvSpPr>
            <p:cNvPr id="34" name="圆角矩形 33"/>
            <p:cNvSpPr/>
            <p:nvPr/>
          </p:nvSpPr>
          <p:spPr bwMode="auto">
            <a:xfrm rot="5400000">
              <a:off x="849035" y="1841328"/>
              <a:ext cx="2354901" cy="1213553"/>
            </a:xfrm>
            <a:prstGeom prst="roundRect">
              <a:avLst>
                <a:gd name="adj" fmla="val 50000"/>
              </a:avLst>
            </a:prstGeom>
            <a:noFill/>
            <a:ln w="349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椭圆 34"/>
            <p:cNvSpPr/>
            <p:nvPr/>
          </p:nvSpPr>
          <p:spPr bwMode="auto">
            <a:xfrm>
              <a:off x="1551376" y="1411885"/>
              <a:ext cx="950219" cy="948943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" name="Text Box 39"/>
            <p:cNvSpPr txBox="1">
              <a:spLocks noChangeArrowheads="1"/>
            </p:cNvSpPr>
            <p:nvPr/>
          </p:nvSpPr>
          <p:spPr bwMode="auto">
            <a:xfrm>
              <a:off x="1505018" y="1355957"/>
              <a:ext cx="1042932" cy="73866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marR="0" algn="ctr" defTabSz="6858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bg1"/>
                </a:buClr>
                <a:buSzTx/>
                <a:buFontTx/>
                <a:defRPr/>
              </a:pPr>
              <a:r>
                <a:rPr kumimoji="0" lang="en-US" altLang="zh-CN" sz="3200" b="1" kern="1200" cap="none" spc="5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2535" name="矩形 261"/>
            <p:cNvSpPr/>
            <p:nvPr/>
          </p:nvSpPr>
          <p:spPr>
            <a:xfrm>
              <a:off x="1626377" y="1951982"/>
              <a:ext cx="800219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  <p:sp>
          <p:nvSpPr>
            <p:cNvPr id="22536" name="Text Box 39"/>
            <p:cNvSpPr txBox="1"/>
            <p:nvPr/>
          </p:nvSpPr>
          <p:spPr>
            <a:xfrm>
              <a:off x="1499515" y="2712116"/>
              <a:ext cx="1086190" cy="4308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您的内容打在这里或者</a:t>
              </a:r>
              <a:endPara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TextBox 36"/>
          <p:cNvSpPr txBox="1"/>
          <p:nvPr/>
        </p:nvSpPr>
        <p:spPr>
          <a:xfrm>
            <a:off x="957263" y="3976688"/>
            <a:ext cx="7170738" cy="569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/>
              <a:t>• 打通 Supabase 注册登录、创建团队、邀请码加入。</a:t>
            </a:r>
          </a:p>
          <a:p>
            <a:pPr algn="l"/>
            <a:r>
              <a:rPr sz="2000"/>
              <a:t>• 让任务、连接器、成员关系都按团队隔离。</a:t>
            </a:r>
          </a:p>
          <a:p>
            <a:pPr algn="l"/>
            <a:r>
              <a:rPr sz="2000"/>
              <a:t>• 让系统从“单机跑通”进入“团队协作可用”阶段。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3155950" y="1270000"/>
            <a:ext cx="1214438" cy="2355850"/>
            <a:chOff x="3156432" y="1270654"/>
            <a:chExt cx="1213553" cy="2354901"/>
          </a:xfrm>
        </p:grpSpPr>
        <p:sp>
          <p:nvSpPr>
            <p:cNvPr id="41" name="圆角矩形 40"/>
            <p:cNvSpPr/>
            <p:nvPr/>
          </p:nvSpPr>
          <p:spPr bwMode="auto">
            <a:xfrm rot="5400000">
              <a:off x="2585758" y="1841328"/>
              <a:ext cx="2354901" cy="1213553"/>
            </a:xfrm>
            <a:prstGeom prst="roundRect">
              <a:avLst>
                <a:gd name="adj" fmla="val 50000"/>
              </a:avLst>
            </a:prstGeom>
            <a:noFill/>
            <a:ln w="349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" name="椭圆 41"/>
            <p:cNvSpPr/>
            <p:nvPr/>
          </p:nvSpPr>
          <p:spPr bwMode="auto">
            <a:xfrm>
              <a:off x="3288099" y="1411885"/>
              <a:ext cx="950219" cy="948943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" name="Text Box 39"/>
            <p:cNvSpPr txBox="1">
              <a:spLocks noChangeArrowheads="1"/>
            </p:cNvSpPr>
            <p:nvPr/>
          </p:nvSpPr>
          <p:spPr bwMode="auto">
            <a:xfrm>
              <a:off x="3241741" y="1355957"/>
              <a:ext cx="1042932" cy="73866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marR="0" algn="ctr" defTabSz="6858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bg1"/>
                </a:buClr>
                <a:buSzTx/>
                <a:buFontTx/>
                <a:defRPr/>
              </a:pPr>
              <a:r>
                <a:rPr kumimoji="0" lang="en-US" altLang="zh-CN" sz="3200" b="1" kern="1200" cap="none" spc="5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2542" name="矩形 261"/>
            <p:cNvSpPr/>
            <p:nvPr/>
          </p:nvSpPr>
          <p:spPr>
            <a:xfrm>
              <a:off x="3363099" y="1951982"/>
              <a:ext cx="800219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  <p:sp>
          <p:nvSpPr>
            <p:cNvPr id="22543" name="Text Box 39"/>
            <p:cNvSpPr txBox="1"/>
            <p:nvPr/>
          </p:nvSpPr>
          <p:spPr>
            <a:xfrm>
              <a:off x="3220112" y="2712116"/>
              <a:ext cx="1086190" cy="4308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您的内容打在这里或者</a:t>
              </a:r>
              <a:endPara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897438" y="1270000"/>
            <a:ext cx="1212850" cy="2355850"/>
            <a:chOff x="4896956" y="1270654"/>
            <a:chExt cx="1213553" cy="2354901"/>
          </a:xfrm>
        </p:grpSpPr>
        <p:sp>
          <p:nvSpPr>
            <p:cNvPr id="68" name="圆角矩形 67"/>
            <p:cNvSpPr/>
            <p:nvPr/>
          </p:nvSpPr>
          <p:spPr bwMode="auto">
            <a:xfrm rot="5400000">
              <a:off x="4326282" y="1841328"/>
              <a:ext cx="2354901" cy="1213553"/>
            </a:xfrm>
            <a:prstGeom prst="roundRect">
              <a:avLst>
                <a:gd name="adj" fmla="val 50000"/>
              </a:avLst>
            </a:prstGeom>
            <a:noFill/>
            <a:ln w="349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椭圆 68"/>
            <p:cNvSpPr/>
            <p:nvPr/>
          </p:nvSpPr>
          <p:spPr bwMode="auto">
            <a:xfrm>
              <a:off x="5028794" y="1411885"/>
              <a:ext cx="949875" cy="948943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Text Box 39"/>
            <p:cNvSpPr txBox="1">
              <a:spLocks noChangeArrowheads="1"/>
            </p:cNvSpPr>
            <p:nvPr/>
          </p:nvSpPr>
          <p:spPr bwMode="auto">
            <a:xfrm>
              <a:off x="4982265" y="1355957"/>
              <a:ext cx="1042932" cy="73866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marR="0" algn="ctr" defTabSz="6858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bg1"/>
                </a:buClr>
                <a:buSzTx/>
                <a:buFontTx/>
                <a:defRPr/>
              </a:pPr>
              <a:r>
                <a:rPr kumimoji="0" lang="en-US" altLang="zh-CN" sz="3200" b="1" kern="1200" cap="none" spc="5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2548" name="矩形 261"/>
            <p:cNvSpPr/>
            <p:nvPr/>
          </p:nvSpPr>
          <p:spPr>
            <a:xfrm>
              <a:off x="5103624" y="1951982"/>
              <a:ext cx="800219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  <p:sp>
          <p:nvSpPr>
            <p:cNvPr id="22549" name="Text Box 39"/>
            <p:cNvSpPr txBox="1"/>
            <p:nvPr/>
          </p:nvSpPr>
          <p:spPr>
            <a:xfrm>
              <a:off x="4965616" y="2712116"/>
              <a:ext cx="1086190" cy="4308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您的内容打在这里或者</a:t>
              </a:r>
              <a:endPara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6591300" y="1270000"/>
            <a:ext cx="1212850" cy="2355850"/>
            <a:chOff x="6590610" y="1270654"/>
            <a:chExt cx="1213553" cy="2354901"/>
          </a:xfrm>
        </p:grpSpPr>
        <p:sp>
          <p:nvSpPr>
            <p:cNvPr id="74" name="圆角矩形 73"/>
            <p:cNvSpPr/>
            <p:nvPr/>
          </p:nvSpPr>
          <p:spPr bwMode="auto">
            <a:xfrm rot="5400000">
              <a:off x="6019936" y="1841328"/>
              <a:ext cx="2354901" cy="1213553"/>
            </a:xfrm>
            <a:prstGeom prst="roundRect">
              <a:avLst>
                <a:gd name="adj" fmla="val 50000"/>
              </a:avLst>
            </a:prstGeom>
            <a:noFill/>
            <a:ln w="349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椭圆 74"/>
            <p:cNvSpPr/>
            <p:nvPr/>
          </p:nvSpPr>
          <p:spPr bwMode="auto">
            <a:xfrm>
              <a:off x="6722449" y="1411885"/>
              <a:ext cx="949875" cy="948943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Text Box 39"/>
            <p:cNvSpPr txBox="1">
              <a:spLocks noChangeArrowheads="1"/>
            </p:cNvSpPr>
            <p:nvPr/>
          </p:nvSpPr>
          <p:spPr bwMode="auto">
            <a:xfrm>
              <a:off x="6675919" y="1355957"/>
              <a:ext cx="1042932" cy="73866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marR="0" algn="ctr" defTabSz="6858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bg1"/>
                </a:buClr>
                <a:buSzTx/>
                <a:buFontTx/>
                <a:defRPr/>
              </a:pPr>
              <a:r>
                <a:rPr kumimoji="0" lang="en-US" altLang="zh-CN" sz="3200" b="1" kern="1200" cap="none" spc="5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2554" name="矩形 261"/>
            <p:cNvSpPr/>
            <p:nvPr/>
          </p:nvSpPr>
          <p:spPr>
            <a:xfrm>
              <a:off x="6797278" y="1951982"/>
              <a:ext cx="800219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  <p:sp>
          <p:nvSpPr>
            <p:cNvPr id="22555" name="Text Box 39"/>
            <p:cNvSpPr txBox="1"/>
            <p:nvPr/>
          </p:nvSpPr>
          <p:spPr>
            <a:xfrm>
              <a:off x="6654290" y="2712116"/>
              <a:ext cx="1086190" cy="4308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您的内容打在这里或者</a:t>
              </a:r>
              <a:endPara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212" y="51218"/>
            <a:ext cx="1617521" cy="307557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667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667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667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9"/>
          <p:cNvSpPr txBox="1"/>
          <p:nvPr/>
        </p:nvSpPr>
        <p:spPr>
          <a:xfrm>
            <a:off x="676275" y="3187700"/>
            <a:ext cx="1893888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/>
              <a:t>第1周</a:t>
            </a:r>
          </a:p>
          <a:p>
            <a:pPr algn="l"/>
            <a:r>
              <a:rPr sz="1800" b="1"/>
              <a:t>需求梳理与范围收敛</a:t>
            </a:r>
          </a:p>
        </p:txBody>
      </p:sp>
      <p:sp>
        <p:nvSpPr>
          <p:cNvPr id="3" name="TextBox 30"/>
          <p:cNvSpPr txBox="1"/>
          <p:nvPr/>
        </p:nvSpPr>
        <p:spPr>
          <a:xfrm>
            <a:off x="2570163" y="3187700"/>
            <a:ext cx="1893888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/>
              <a:t>第2周</a:t>
            </a:r>
          </a:p>
          <a:p>
            <a:pPr algn="l"/>
            <a:r>
              <a:rPr sz="1800" b="1"/>
              <a:t>底座选型与环境验证</a:t>
            </a:r>
          </a:p>
        </p:txBody>
      </p:sp>
      <p:sp>
        <p:nvSpPr>
          <p:cNvPr id="4" name="TextBox 31"/>
          <p:cNvSpPr txBox="1"/>
          <p:nvPr/>
        </p:nvSpPr>
        <p:spPr>
          <a:xfrm>
            <a:off x="4530725" y="3187700"/>
            <a:ext cx="1893888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/>
              <a:t>第3周</a:t>
            </a:r>
          </a:p>
          <a:p>
            <a:pPr algn="l"/>
            <a:r>
              <a:rPr sz="1800" b="1"/>
              <a:t>前后端最小联调</a:t>
            </a:r>
          </a:p>
        </p:txBody>
      </p:sp>
      <p:sp>
        <p:nvSpPr>
          <p:cNvPr id="5" name="TextBox 32"/>
          <p:cNvSpPr txBox="1"/>
          <p:nvPr/>
        </p:nvSpPr>
        <p:spPr>
          <a:xfrm>
            <a:off x="6559550" y="3187700"/>
            <a:ext cx="1893888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/>
              <a:t>第4周</a:t>
            </a:r>
          </a:p>
          <a:p>
            <a:pPr algn="l"/>
            <a:r>
              <a:rPr sz="1800" b="1"/>
              <a:t>模型兼容与过程展示</a:t>
            </a:r>
          </a:p>
        </p:txBody>
      </p:sp>
      <p:sp>
        <p:nvSpPr>
          <p:cNvPr id="6" name="TextBox 34"/>
          <p:cNvSpPr txBox="1"/>
          <p:nvPr/>
        </p:nvSpPr>
        <p:spPr>
          <a:xfrm>
            <a:off x="1600200" y="4105275"/>
            <a:ext cx="5992813" cy="54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/>
              <a:t>第5周</a:t>
            </a:r>
          </a:p>
          <a:p>
            <a:pPr algn="l"/>
            <a:r>
              <a:rPr sz="1700" b="1"/>
              <a:t>认证接入、连接器管理、任务 AI 解析、Token 统计与结果明细展示</a:t>
            </a:r>
          </a:p>
          <a:p>
            <a:pPr algn="l"/>
            <a:r>
              <a:rPr sz="1700" b="1"/>
              <a:t>形成团队协作版 Alpha 候选闭环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744538" y="966788"/>
            <a:ext cx="7642225" cy="2165350"/>
            <a:chOff x="751008" y="967406"/>
            <a:chExt cx="7641986" cy="2164103"/>
          </a:xfrm>
        </p:grpSpPr>
        <p:grpSp>
          <p:nvGrpSpPr>
            <p:cNvPr id="32775" name="组合 7"/>
            <p:cNvGrpSpPr/>
            <p:nvPr/>
          </p:nvGrpSpPr>
          <p:grpSpPr>
            <a:xfrm>
              <a:off x="1690501" y="967406"/>
              <a:ext cx="5665736" cy="1623077"/>
              <a:chOff x="1690501" y="967406"/>
              <a:chExt cx="5665736" cy="1623077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1690779" y="1981234"/>
                <a:ext cx="566561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/>
              <p:cNvCxnSpPr/>
              <p:nvPr/>
            </p:nvCxnSpPr>
            <p:spPr>
              <a:xfrm>
                <a:off x="1690779" y="1981234"/>
                <a:ext cx="0" cy="609249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/>
              <p:cNvCxnSpPr/>
              <p:nvPr/>
            </p:nvCxnSpPr>
            <p:spPr>
              <a:xfrm>
                <a:off x="3598894" y="1981234"/>
                <a:ext cx="0" cy="609249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/>
              <p:cNvCxnSpPr/>
              <p:nvPr/>
            </p:nvCxnSpPr>
            <p:spPr>
              <a:xfrm>
                <a:off x="5583207" y="1981234"/>
                <a:ext cx="0" cy="609249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/>
              <p:cNvCxnSpPr/>
              <p:nvPr/>
            </p:nvCxnSpPr>
            <p:spPr>
              <a:xfrm>
                <a:off x="7354802" y="1981234"/>
                <a:ext cx="0" cy="609249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4583114" y="1508431"/>
                <a:ext cx="0" cy="472803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矩形 22"/>
              <p:cNvSpPr/>
              <p:nvPr/>
            </p:nvSpPr>
            <p:spPr>
              <a:xfrm>
                <a:off x="3483010" y="967406"/>
                <a:ext cx="2177982" cy="541025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TextBox 35"/>
              <p:cNvSpPr txBox="1"/>
              <p:nvPr/>
            </p:nvSpPr>
            <p:spPr>
              <a:xfrm>
                <a:off x="3768751" y="1087987"/>
                <a:ext cx="1589038" cy="33794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R="0" algn="ctr" defTabSz="685800" rtl="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kumimoji="0" lang="zh-CN" altLang="en-US" sz="1600" b="1" kern="1200" cap="none" spc="225" normalizeH="0" baseline="0" noProof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点击添加标题</a:t>
                </a: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751008" y="2590483"/>
              <a:ext cx="1789056" cy="54102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85" name="TextBox 36"/>
            <p:cNvSpPr txBox="1"/>
            <p:nvPr/>
          </p:nvSpPr>
          <p:spPr>
            <a:xfrm>
              <a:off x="1091211" y="2722497"/>
              <a:ext cx="1107996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2682935" y="2590483"/>
              <a:ext cx="1787469" cy="54102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87" name="TextBox 37"/>
            <p:cNvSpPr txBox="1"/>
            <p:nvPr/>
          </p:nvSpPr>
          <p:spPr>
            <a:xfrm>
              <a:off x="3022361" y="2722497"/>
              <a:ext cx="1107996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4643436" y="2590483"/>
              <a:ext cx="1789056" cy="54102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89" name="TextBox 38"/>
            <p:cNvSpPr txBox="1"/>
            <p:nvPr/>
          </p:nvSpPr>
          <p:spPr>
            <a:xfrm>
              <a:off x="4983578" y="2722497"/>
              <a:ext cx="1107996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6603937" y="2590483"/>
              <a:ext cx="1789057" cy="54102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TextBox 39"/>
            <p:cNvSpPr txBox="1"/>
            <p:nvPr/>
          </p:nvSpPr>
          <p:spPr>
            <a:xfrm>
              <a:off x="6944796" y="2722497"/>
              <a:ext cx="1107996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</p:grpSp>
      <p:pic>
        <p:nvPicPr>
          <p:cNvPr id="32792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第1-5周阶段推进情况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212" y="51218"/>
            <a:ext cx="1617521" cy="307557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本周完成情况</a:t>
            </a:r>
          </a:p>
        </p:txBody>
      </p:sp>
      <p:sp>
        <p:nvSpPr>
          <p:cNvPr id="4" name="Freeform 2"/>
          <p:cNvSpPr/>
          <p:nvPr/>
        </p:nvSpPr>
        <p:spPr bwMode="auto">
          <a:xfrm>
            <a:off x="941388" y="1884363"/>
            <a:ext cx="7261225" cy="1117600"/>
          </a:xfrm>
          <a:custGeom>
            <a:avLst/>
            <a:gdLst>
              <a:gd name="T0" fmla="*/ 2134 w 2522"/>
              <a:gd name="T1" fmla="*/ 0 h 388"/>
              <a:gd name="T2" fmla="*/ 1749 w 2522"/>
              <a:gd name="T3" fmla="*/ 341 h 388"/>
              <a:gd name="T4" fmla="*/ 0 w 2522"/>
              <a:gd name="T5" fmla="*/ 341 h 388"/>
              <a:gd name="T6" fmla="*/ 0 w 2522"/>
              <a:gd name="T7" fmla="*/ 388 h 388"/>
              <a:gd name="T8" fmla="*/ 1746 w 2522"/>
              <a:gd name="T9" fmla="*/ 388 h 388"/>
              <a:gd name="T10" fmla="*/ 1803 w 2522"/>
              <a:gd name="T11" fmla="*/ 388 h 388"/>
              <a:gd name="T12" fmla="*/ 2522 w 2522"/>
              <a:gd name="T13" fmla="*/ 388 h 388"/>
              <a:gd name="T14" fmla="*/ 2134 w 2522"/>
              <a:gd name="T15" fmla="*/ 0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22" h="388">
                <a:moveTo>
                  <a:pt x="2134" y="0"/>
                </a:moveTo>
                <a:cubicBezTo>
                  <a:pt x="1936" y="0"/>
                  <a:pt x="1772" y="149"/>
                  <a:pt x="1749" y="341"/>
                </a:cubicBezTo>
                <a:cubicBezTo>
                  <a:pt x="0" y="341"/>
                  <a:pt x="0" y="341"/>
                  <a:pt x="0" y="341"/>
                </a:cubicBezTo>
                <a:cubicBezTo>
                  <a:pt x="0" y="388"/>
                  <a:pt x="0" y="388"/>
                  <a:pt x="0" y="388"/>
                </a:cubicBezTo>
                <a:cubicBezTo>
                  <a:pt x="1746" y="388"/>
                  <a:pt x="1746" y="388"/>
                  <a:pt x="1746" y="388"/>
                </a:cubicBezTo>
                <a:cubicBezTo>
                  <a:pt x="1803" y="388"/>
                  <a:pt x="1803" y="388"/>
                  <a:pt x="1803" y="388"/>
                </a:cubicBezTo>
                <a:cubicBezTo>
                  <a:pt x="2522" y="388"/>
                  <a:pt x="2522" y="388"/>
                  <a:pt x="2522" y="388"/>
                </a:cubicBezTo>
                <a:cubicBezTo>
                  <a:pt x="2522" y="174"/>
                  <a:pt x="2348" y="0"/>
                  <a:pt x="2134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reeform 3"/>
          <p:cNvSpPr/>
          <p:nvPr/>
        </p:nvSpPr>
        <p:spPr bwMode="auto">
          <a:xfrm>
            <a:off x="941388" y="3044825"/>
            <a:ext cx="7261225" cy="1117600"/>
          </a:xfrm>
          <a:custGeom>
            <a:avLst/>
            <a:gdLst>
              <a:gd name="T0" fmla="*/ 2134 w 2522"/>
              <a:gd name="T1" fmla="*/ 388 h 388"/>
              <a:gd name="T2" fmla="*/ 1749 w 2522"/>
              <a:gd name="T3" fmla="*/ 48 h 388"/>
              <a:gd name="T4" fmla="*/ 0 w 2522"/>
              <a:gd name="T5" fmla="*/ 48 h 388"/>
              <a:gd name="T6" fmla="*/ 0 w 2522"/>
              <a:gd name="T7" fmla="*/ 0 h 388"/>
              <a:gd name="T8" fmla="*/ 1746 w 2522"/>
              <a:gd name="T9" fmla="*/ 0 h 388"/>
              <a:gd name="T10" fmla="*/ 1803 w 2522"/>
              <a:gd name="T11" fmla="*/ 0 h 388"/>
              <a:gd name="T12" fmla="*/ 2522 w 2522"/>
              <a:gd name="T13" fmla="*/ 0 h 388"/>
              <a:gd name="T14" fmla="*/ 2134 w 2522"/>
              <a:gd name="T15" fmla="*/ 388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22" h="388">
                <a:moveTo>
                  <a:pt x="2134" y="388"/>
                </a:moveTo>
                <a:cubicBezTo>
                  <a:pt x="1936" y="388"/>
                  <a:pt x="1772" y="240"/>
                  <a:pt x="1749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0"/>
                  <a:pt x="0" y="0"/>
                  <a:pt x="0" y="0"/>
                </a:cubicBezTo>
                <a:cubicBezTo>
                  <a:pt x="1746" y="0"/>
                  <a:pt x="1746" y="0"/>
                  <a:pt x="1746" y="0"/>
                </a:cubicBezTo>
                <a:cubicBezTo>
                  <a:pt x="1803" y="0"/>
                  <a:pt x="1803" y="0"/>
                  <a:pt x="1803" y="0"/>
                </a:cubicBezTo>
                <a:cubicBezTo>
                  <a:pt x="2522" y="0"/>
                  <a:pt x="2522" y="0"/>
                  <a:pt x="2522" y="0"/>
                </a:cubicBezTo>
                <a:cubicBezTo>
                  <a:pt x="2522" y="215"/>
                  <a:pt x="2348" y="388"/>
                  <a:pt x="2134" y="388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reeform 4"/>
          <p:cNvSpPr/>
          <p:nvPr/>
        </p:nvSpPr>
        <p:spPr bwMode="auto">
          <a:xfrm>
            <a:off x="941388" y="1603375"/>
            <a:ext cx="6164263" cy="280988"/>
          </a:xfrm>
          <a:custGeom>
            <a:avLst/>
            <a:gdLst>
              <a:gd name="T0" fmla="*/ 0 w 3883"/>
              <a:gd name="T1" fmla="*/ 0 h 177"/>
              <a:gd name="T2" fmla="*/ 3883 w 3883"/>
              <a:gd name="T3" fmla="*/ 0 h 177"/>
              <a:gd name="T4" fmla="*/ 3883 w 3883"/>
              <a:gd name="T5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3" h="177">
                <a:moveTo>
                  <a:pt x="0" y="0"/>
                </a:moveTo>
                <a:lnTo>
                  <a:pt x="3883" y="0"/>
                </a:lnTo>
                <a:lnTo>
                  <a:pt x="3883" y="177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Freeform 5"/>
          <p:cNvSpPr/>
          <p:nvPr/>
        </p:nvSpPr>
        <p:spPr bwMode="auto">
          <a:xfrm>
            <a:off x="941388" y="4162425"/>
            <a:ext cx="6164263" cy="279400"/>
          </a:xfrm>
          <a:custGeom>
            <a:avLst/>
            <a:gdLst>
              <a:gd name="T0" fmla="*/ 0 w 3883"/>
              <a:gd name="T1" fmla="*/ 176 h 176"/>
              <a:gd name="T2" fmla="*/ 3883 w 3883"/>
              <a:gd name="T3" fmla="*/ 176 h 176"/>
              <a:gd name="T4" fmla="*/ 3883 w 3883"/>
              <a:gd name="T5" fmla="*/ 0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3" h="176">
                <a:moveTo>
                  <a:pt x="0" y="176"/>
                </a:moveTo>
                <a:lnTo>
                  <a:pt x="3883" y="176"/>
                </a:lnTo>
                <a:lnTo>
                  <a:pt x="3883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6523038" y="2184400"/>
            <a:ext cx="11541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l"/>
            <a:r>
              <a:t>团队协作与权限</a:t>
            </a: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6523038" y="3262313"/>
            <a:ext cx="11541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l"/>
            <a:r>
              <a:t>连接器与执行链路</a:t>
            </a:r>
          </a:p>
        </p:txBody>
      </p:sp>
      <p:sp>
        <p:nvSpPr>
          <p:cNvPr id="10" name="Text Box 65"/>
          <p:cNvSpPr txBox="1"/>
          <p:nvPr/>
        </p:nvSpPr>
        <p:spPr>
          <a:xfrm>
            <a:off x="877888" y="1751013"/>
            <a:ext cx="3670300" cy="868362"/>
          </a:xfrm>
          <a:prstGeom prst="rect">
            <a:avLst/>
          </a:prstGeom>
          <a:noFill/>
          <a:ln w="9525"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sz="1800"/>
              <a:t>• 前端接入 Supabase 注册 / 登录 / 退出流程。</a:t>
            </a:r>
          </a:p>
          <a:p>
            <a:pPr algn="l"/>
            <a:r>
              <a:rPr sz="1800"/>
              <a:t>• 支持创建团队、邀请码加入、成员信息读取。</a:t>
            </a:r>
          </a:p>
          <a:p>
            <a:pPr algn="l"/>
            <a:r>
              <a:rPr sz="1800"/>
              <a:t>• 后端基于 X-Team-Id 实现任务与连接器的团队隔离。</a:t>
            </a:r>
          </a:p>
        </p:txBody>
      </p:sp>
      <p:sp>
        <p:nvSpPr>
          <p:cNvPr id="11" name="Text Box 65"/>
          <p:cNvSpPr txBox="1"/>
          <p:nvPr/>
        </p:nvSpPr>
        <p:spPr>
          <a:xfrm>
            <a:off x="877888" y="3405188"/>
            <a:ext cx="3670300" cy="681990"/>
          </a:xfrm>
          <a:prstGeom prst="rect">
            <a:avLst/>
          </a:prstGeom>
          <a:noFill/>
          <a:ln w="9525"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sz="1800"/>
              <a:t>• 支持 OpenAI-compatible 连接器录入、测试、激活。</a:t>
            </a:r>
          </a:p>
          <a:p>
            <a:pPr algn="l"/>
            <a:r>
              <a:rPr sz="1800"/>
              <a:t>• 自动归一化 Base URL，完成 /models 与推理双重探测。</a:t>
            </a:r>
          </a:p>
          <a:p>
            <a:pPr algn="l"/>
            <a:r>
              <a:rPr sz="1800"/>
              <a:t>• 激活后直接驱动任务 AI 解析与 MLZero 运行。</a:t>
            </a:r>
          </a:p>
        </p:txBody>
      </p:sp>
      <p:sp>
        <p:nvSpPr>
          <p:cNvPr id="12" name="Freeform 103"/>
          <p:cNvSpPr>
            <a:spLocks noEditPoints="1" noChangeArrowheads="1"/>
          </p:cNvSpPr>
          <p:nvPr/>
        </p:nvSpPr>
        <p:spPr bwMode="auto">
          <a:xfrm>
            <a:off x="6838950" y="2533650"/>
            <a:ext cx="465138" cy="358775"/>
          </a:xfrm>
          <a:custGeom>
            <a:avLst/>
            <a:gdLst>
              <a:gd name="T0" fmla="*/ 33 w 97"/>
              <a:gd name="T1" fmla="*/ 75 h 75"/>
              <a:gd name="T2" fmla="*/ 44 w 97"/>
              <a:gd name="T3" fmla="*/ 75 h 75"/>
              <a:gd name="T4" fmla="*/ 47 w 97"/>
              <a:gd name="T5" fmla="*/ 73 h 75"/>
              <a:gd name="T6" fmla="*/ 47 w 97"/>
              <a:gd name="T7" fmla="*/ 49 h 75"/>
              <a:gd name="T8" fmla="*/ 39 w 97"/>
              <a:gd name="T9" fmla="*/ 45 h 75"/>
              <a:gd name="T10" fmla="*/ 30 w 97"/>
              <a:gd name="T11" fmla="*/ 50 h 75"/>
              <a:gd name="T12" fmla="*/ 30 w 97"/>
              <a:gd name="T13" fmla="*/ 73 h 75"/>
              <a:gd name="T14" fmla="*/ 33 w 97"/>
              <a:gd name="T15" fmla="*/ 75 h 75"/>
              <a:gd name="T16" fmla="*/ 0 w 97"/>
              <a:gd name="T17" fmla="*/ 49 h 75"/>
              <a:gd name="T18" fmla="*/ 37 w 97"/>
              <a:gd name="T19" fmla="*/ 28 h 75"/>
              <a:gd name="T20" fmla="*/ 39 w 97"/>
              <a:gd name="T21" fmla="*/ 26 h 75"/>
              <a:gd name="T22" fmla="*/ 41 w 97"/>
              <a:gd name="T23" fmla="*/ 28 h 75"/>
              <a:gd name="T24" fmla="*/ 52 w 97"/>
              <a:gd name="T25" fmla="*/ 34 h 75"/>
              <a:gd name="T26" fmla="*/ 81 w 97"/>
              <a:gd name="T27" fmla="*/ 9 h 75"/>
              <a:gd name="T28" fmla="*/ 77 w 97"/>
              <a:gd name="T29" fmla="*/ 4 h 75"/>
              <a:gd name="T30" fmla="*/ 87 w 97"/>
              <a:gd name="T31" fmla="*/ 2 h 75"/>
              <a:gd name="T32" fmla="*/ 97 w 97"/>
              <a:gd name="T33" fmla="*/ 0 h 75"/>
              <a:gd name="T34" fmla="*/ 94 w 97"/>
              <a:gd name="T35" fmla="*/ 10 h 75"/>
              <a:gd name="T36" fmla="*/ 91 w 97"/>
              <a:gd name="T37" fmla="*/ 19 h 75"/>
              <a:gd name="T38" fmla="*/ 87 w 97"/>
              <a:gd name="T39" fmla="*/ 15 h 75"/>
              <a:gd name="T40" fmla="*/ 55 w 97"/>
              <a:gd name="T41" fmla="*/ 42 h 75"/>
              <a:gd name="T42" fmla="*/ 53 w 97"/>
              <a:gd name="T43" fmla="*/ 44 h 75"/>
              <a:gd name="T44" fmla="*/ 50 w 97"/>
              <a:gd name="T45" fmla="*/ 43 h 75"/>
              <a:gd name="T46" fmla="*/ 39 w 97"/>
              <a:gd name="T47" fmla="*/ 36 h 75"/>
              <a:gd name="T48" fmla="*/ 5 w 97"/>
              <a:gd name="T49" fmla="*/ 57 h 75"/>
              <a:gd name="T50" fmla="*/ 0 w 97"/>
              <a:gd name="T51" fmla="*/ 49 h 75"/>
              <a:gd name="T52" fmla="*/ 10 w 97"/>
              <a:gd name="T53" fmla="*/ 75 h 75"/>
              <a:gd name="T54" fmla="*/ 21 w 97"/>
              <a:gd name="T55" fmla="*/ 75 h 75"/>
              <a:gd name="T56" fmla="*/ 23 w 97"/>
              <a:gd name="T57" fmla="*/ 73 h 75"/>
              <a:gd name="T58" fmla="*/ 23 w 97"/>
              <a:gd name="T59" fmla="*/ 54 h 75"/>
              <a:gd name="T60" fmla="*/ 7 w 97"/>
              <a:gd name="T61" fmla="*/ 64 h 75"/>
              <a:gd name="T62" fmla="*/ 7 w 97"/>
              <a:gd name="T63" fmla="*/ 73 h 75"/>
              <a:gd name="T64" fmla="*/ 10 w 97"/>
              <a:gd name="T65" fmla="*/ 75 h 75"/>
              <a:gd name="T66" fmla="*/ 56 w 97"/>
              <a:gd name="T67" fmla="*/ 75 h 75"/>
              <a:gd name="T68" fmla="*/ 67 w 97"/>
              <a:gd name="T69" fmla="*/ 75 h 75"/>
              <a:gd name="T70" fmla="*/ 70 w 97"/>
              <a:gd name="T71" fmla="*/ 73 h 75"/>
              <a:gd name="T72" fmla="*/ 70 w 97"/>
              <a:gd name="T73" fmla="*/ 39 h 75"/>
              <a:gd name="T74" fmla="*/ 70 w 97"/>
              <a:gd name="T75" fmla="*/ 39 h 75"/>
              <a:gd name="T76" fmla="*/ 54 w 97"/>
              <a:gd name="T77" fmla="*/ 53 h 75"/>
              <a:gd name="T78" fmla="*/ 53 w 97"/>
              <a:gd name="T79" fmla="*/ 52 h 75"/>
              <a:gd name="T80" fmla="*/ 53 w 97"/>
              <a:gd name="T81" fmla="*/ 73 h 75"/>
              <a:gd name="T82" fmla="*/ 56 w 97"/>
              <a:gd name="T83" fmla="*/ 75 h 75"/>
              <a:gd name="T84" fmla="*/ 79 w 97"/>
              <a:gd name="T85" fmla="*/ 75 h 75"/>
              <a:gd name="T86" fmla="*/ 90 w 97"/>
              <a:gd name="T87" fmla="*/ 75 h 75"/>
              <a:gd name="T88" fmla="*/ 93 w 97"/>
              <a:gd name="T89" fmla="*/ 73 h 75"/>
              <a:gd name="T90" fmla="*/ 93 w 97"/>
              <a:gd name="T91" fmla="*/ 32 h 75"/>
              <a:gd name="T92" fmla="*/ 86 w 97"/>
              <a:gd name="T93" fmla="*/ 24 h 75"/>
              <a:gd name="T94" fmla="*/ 77 w 97"/>
              <a:gd name="T95" fmla="*/ 33 h 75"/>
              <a:gd name="T96" fmla="*/ 77 w 97"/>
              <a:gd name="T97" fmla="*/ 73 h 75"/>
              <a:gd name="T98" fmla="*/ 79 w 97"/>
              <a:gd name="T99" fmla="*/ 75 h 75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97"/>
              <a:gd name="T151" fmla="*/ 0 h 75"/>
              <a:gd name="T152" fmla="*/ 97 w 97"/>
              <a:gd name="T153" fmla="*/ 75 h 75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97" h="75">
                <a:moveTo>
                  <a:pt x="33" y="75"/>
                </a:moveTo>
                <a:cubicBezTo>
                  <a:pt x="37" y="75"/>
                  <a:pt x="40" y="75"/>
                  <a:pt x="44" y="75"/>
                </a:cubicBezTo>
                <a:cubicBezTo>
                  <a:pt x="45" y="75"/>
                  <a:pt x="47" y="74"/>
                  <a:pt x="47" y="73"/>
                </a:cubicBezTo>
                <a:cubicBezTo>
                  <a:pt x="47" y="49"/>
                  <a:pt x="47" y="49"/>
                  <a:pt x="47" y="49"/>
                </a:cubicBezTo>
                <a:cubicBezTo>
                  <a:pt x="39" y="45"/>
                  <a:pt x="39" y="45"/>
                  <a:pt x="39" y="45"/>
                </a:cubicBezTo>
                <a:cubicBezTo>
                  <a:pt x="30" y="50"/>
                  <a:pt x="30" y="50"/>
                  <a:pt x="30" y="50"/>
                </a:cubicBezTo>
                <a:cubicBezTo>
                  <a:pt x="30" y="73"/>
                  <a:pt x="30" y="73"/>
                  <a:pt x="30" y="73"/>
                </a:cubicBezTo>
                <a:cubicBezTo>
                  <a:pt x="30" y="74"/>
                  <a:pt x="31" y="75"/>
                  <a:pt x="33" y="75"/>
                </a:cubicBezTo>
                <a:close/>
                <a:moveTo>
                  <a:pt x="0" y="49"/>
                </a:moveTo>
                <a:cubicBezTo>
                  <a:pt x="37" y="28"/>
                  <a:pt x="37" y="28"/>
                  <a:pt x="37" y="28"/>
                </a:cubicBezTo>
                <a:cubicBezTo>
                  <a:pt x="39" y="26"/>
                  <a:pt x="39" y="26"/>
                  <a:pt x="39" y="26"/>
                </a:cubicBezTo>
                <a:cubicBezTo>
                  <a:pt x="41" y="28"/>
                  <a:pt x="41" y="28"/>
                  <a:pt x="41" y="28"/>
                </a:cubicBezTo>
                <a:cubicBezTo>
                  <a:pt x="52" y="34"/>
                  <a:pt x="52" y="34"/>
                  <a:pt x="52" y="34"/>
                </a:cubicBezTo>
                <a:cubicBezTo>
                  <a:pt x="81" y="9"/>
                  <a:pt x="81" y="9"/>
                  <a:pt x="81" y="9"/>
                </a:cubicBezTo>
                <a:cubicBezTo>
                  <a:pt x="77" y="4"/>
                  <a:pt x="77" y="4"/>
                  <a:pt x="77" y="4"/>
                </a:cubicBezTo>
                <a:cubicBezTo>
                  <a:pt x="87" y="2"/>
                  <a:pt x="87" y="2"/>
                  <a:pt x="87" y="2"/>
                </a:cubicBezTo>
                <a:cubicBezTo>
                  <a:pt x="97" y="0"/>
                  <a:pt x="97" y="0"/>
                  <a:pt x="97" y="0"/>
                </a:cubicBezTo>
                <a:cubicBezTo>
                  <a:pt x="94" y="10"/>
                  <a:pt x="94" y="10"/>
                  <a:pt x="94" y="10"/>
                </a:cubicBezTo>
                <a:cubicBezTo>
                  <a:pt x="91" y="19"/>
                  <a:pt x="91" y="19"/>
                  <a:pt x="91" y="19"/>
                </a:cubicBezTo>
                <a:cubicBezTo>
                  <a:pt x="87" y="15"/>
                  <a:pt x="87" y="15"/>
                  <a:pt x="87" y="15"/>
                </a:cubicBezTo>
                <a:cubicBezTo>
                  <a:pt x="55" y="42"/>
                  <a:pt x="55" y="42"/>
                  <a:pt x="55" y="42"/>
                </a:cubicBezTo>
                <a:cubicBezTo>
                  <a:pt x="53" y="44"/>
                  <a:pt x="53" y="44"/>
                  <a:pt x="53" y="44"/>
                </a:cubicBezTo>
                <a:cubicBezTo>
                  <a:pt x="50" y="43"/>
                  <a:pt x="50" y="43"/>
                  <a:pt x="50" y="43"/>
                </a:cubicBezTo>
                <a:cubicBezTo>
                  <a:pt x="39" y="36"/>
                  <a:pt x="39" y="36"/>
                  <a:pt x="39" y="36"/>
                </a:cubicBezTo>
                <a:cubicBezTo>
                  <a:pt x="5" y="57"/>
                  <a:pt x="5" y="57"/>
                  <a:pt x="5" y="57"/>
                </a:cubicBezTo>
                <a:cubicBezTo>
                  <a:pt x="0" y="49"/>
                  <a:pt x="0" y="49"/>
                  <a:pt x="0" y="49"/>
                </a:cubicBezTo>
                <a:close/>
                <a:moveTo>
                  <a:pt x="10" y="75"/>
                </a:moveTo>
                <a:cubicBezTo>
                  <a:pt x="21" y="75"/>
                  <a:pt x="21" y="75"/>
                  <a:pt x="21" y="75"/>
                </a:cubicBezTo>
                <a:cubicBezTo>
                  <a:pt x="22" y="75"/>
                  <a:pt x="23" y="74"/>
                  <a:pt x="23" y="73"/>
                </a:cubicBezTo>
                <a:cubicBezTo>
                  <a:pt x="23" y="54"/>
                  <a:pt x="23" y="54"/>
                  <a:pt x="23" y="54"/>
                </a:cubicBezTo>
                <a:cubicBezTo>
                  <a:pt x="7" y="64"/>
                  <a:pt x="7" y="64"/>
                  <a:pt x="7" y="64"/>
                </a:cubicBezTo>
                <a:cubicBezTo>
                  <a:pt x="7" y="73"/>
                  <a:pt x="7" y="73"/>
                  <a:pt x="7" y="73"/>
                </a:cubicBezTo>
                <a:cubicBezTo>
                  <a:pt x="7" y="74"/>
                  <a:pt x="8" y="75"/>
                  <a:pt x="10" y="75"/>
                </a:cubicBezTo>
                <a:close/>
                <a:moveTo>
                  <a:pt x="56" y="75"/>
                </a:moveTo>
                <a:cubicBezTo>
                  <a:pt x="60" y="75"/>
                  <a:pt x="63" y="75"/>
                  <a:pt x="67" y="75"/>
                </a:cubicBezTo>
                <a:cubicBezTo>
                  <a:pt x="69" y="75"/>
                  <a:pt x="70" y="74"/>
                  <a:pt x="70" y="73"/>
                </a:cubicBezTo>
                <a:cubicBezTo>
                  <a:pt x="70" y="62"/>
                  <a:pt x="70" y="50"/>
                  <a:pt x="70" y="39"/>
                </a:cubicBezTo>
                <a:cubicBezTo>
                  <a:pt x="70" y="39"/>
                  <a:pt x="70" y="39"/>
                  <a:pt x="70" y="39"/>
                </a:cubicBezTo>
                <a:cubicBezTo>
                  <a:pt x="54" y="53"/>
                  <a:pt x="54" y="53"/>
                  <a:pt x="54" y="53"/>
                </a:cubicBezTo>
                <a:cubicBezTo>
                  <a:pt x="53" y="52"/>
                  <a:pt x="53" y="52"/>
                  <a:pt x="53" y="52"/>
                </a:cubicBezTo>
                <a:cubicBezTo>
                  <a:pt x="53" y="73"/>
                  <a:pt x="53" y="73"/>
                  <a:pt x="53" y="73"/>
                </a:cubicBezTo>
                <a:cubicBezTo>
                  <a:pt x="53" y="74"/>
                  <a:pt x="55" y="75"/>
                  <a:pt x="56" y="75"/>
                </a:cubicBezTo>
                <a:close/>
                <a:moveTo>
                  <a:pt x="79" y="75"/>
                </a:moveTo>
                <a:cubicBezTo>
                  <a:pt x="90" y="75"/>
                  <a:pt x="90" y="75"/>
                  <a:pt x="90" y="75"/>
                </a:cubicBezTo>
                <a:cubicBezTo>
                  <a:pt x="92" y="75"/>
                  <a:pt x="93" y="74"/>
                  <a:pt x="93" y="73"/>
                </a:cubicBezTo>
                <a:cubicBezTo>
                  <a:pt x="93" y="32"/>
                  <a:pt x="93" y="32"/>
                  <a:pt x="93" y="32"/>
                </a:cubicBezTo>
                <a:cubicBezTo>
                  <a:pt x="86" y="24"/>
                  <a:pt x="86" y="24"/>
                  <a:pt x="86" y="24"/>
                </a:cubicBezTo>
                <a:cubicBezTo>
                  <a:pt x="77" y="33"/>
                  <a:pt x="77" y="33"/>
                  <a:pt x="77" y="33"/>
                </a:cubicBezTo>
                <a:cubicBezTo>
                  <a:pt x="77" y="73"/>
                  <a:pt x="77" y="73"/>
                  <a:pt x="77" y="73"/>
                </a:cubicBezTo>
                <a:cubicBezTo>
                  <a:pt x="77" y="74"/>
                  <a:pt x="78" y="75"/>
                  <a:pt x="79" y="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3" name="Freeform 33"/>
          <p:cNvSpPr>
            <a:spLocks noEditPoints="1" noChangeArrowheads="1"/>
          </p:cNvSpPr>
          <p:nvPr/>
        </p:nvSpPr>
        <p:spPr bwMode="auto">
          <a:xfrm>
            <a:off x="6899275" y="3673475"/>
            <a:ext cx="412750" cy="266700"/>
          </a:xfrm>
          <a:custGeom>
            <a:avLst/>
            <a:gdLst>
              <a:gd name="T0" fmla="*/ 13 w 94"/>
              <a:gd name="T1" fmla="*/ 0 h 61"/>
              <a:gd name="T2" fmla="*/ 82 w 94"/>
              <a:gd name="T3" fmla="*/ 0 h 61"/>
              <a:gd name="T4" fmla="*/ 89 w 94"/>
              <a:gd name="T5" fmla="*/ 2 h 61"/>
              <a:gd name="T6" fmla="*/ 47 w 94"/>
              <a:gd name="T7" fmla="*/ 33 h 61"/>
              <a:gd name="T8" fmla="*/ 6 w 94"/>
              <a:gd name="T9" fmla="*/ 2 h 61"/>
              <a:gd name="T10" fmla="*/ 13 w 94"/>
              <a:gd name="T11" fmla="*/ 0 h 61"/>
              <a:gd name="T12" fmla="*/ 94 w 94"/>
              <a:gd name="T13" fmla="*/ 9 h 61"/>
              <a:gd name="T14" fmla="*/ 67 w 94"/>
              <a:gd name="T15" fmla="*/ 29 h 61"/>
              <a:gd name="T16" fmla="*/ 93 w 94"/>
              <a:gd name="T17" fmla="*/ 53 h 61"/>
              <a:gd name="T18" fmla="*/ 94 w 94"/>
              <a:gd name="T19" fmla="*/ 48 h 61"/>
              <a:gd name="T20" fmla="*/ 94 w 94"/>
              <a:gd name="T21" fmla="*/ 12 h 61"/>
              <a:gd name="T22" fmla="*/ 94 w 94"/>
              <a:gd name="T23" fmla="*/ 9 h 61"/>
              <a:gd name="T24" fmla="*/ 87 w 94"/>
              <a:gd name="T25" fmla="*/ 60 h 61"/>
              <a:gd name="T26" fmla="*/ 82 w 94"/>
              <a:gd name="T27" fmla="*/ 61 h 61"/>
              <a:gd name="T28" fmla="*/ 13 w 94"/>
              <a:gd name="T29" fmla="*/ 61 h 61"/>
              <a:gd name="T30" fmla="*/ 6 w 94"/>
              <a:gd name="T31" fmla="*/ 59 h 61"/>
              <a:gd name="T32" fmla="*/ 34 w 94"/>
              <a:gd name="T33" fmla="*/ 34 h 61"/>
              <a:gd name="T34" fmla="*/ 44 w 94"/>
              <a:gd name="T35" fmla="*/ 42 h 61"/>
              <a:gd name="T36" fmla="*/ 47 w 94"/>
              <a:gd name="T37" fmla="*/ 44 h 61"/>
              <a:gd name="T38" fmla="*/ 50 w 94"/>
              <a:gd name="T39" fmla="*/ 42 h 61"/>
              <a:gd name="T40" fmla="*/ 60 w 94"/>
              <a:gd name="T41" fmla="*/ 35 h 61"/>
              <a:gd name="T42" fmla="*/ 87 w 94"/>
              <a:gd name="T43" fmla="*/ 60 h 61"/>
              <a:gd name="T44" fmla="*/ 1 w 94"/>
              <a:gd name="T45" fmla="*/ 52 h 61"/>
              <a:gd name="T46" fmla="*/ 27 w 94"/>
              <a:gd name="T47" fmla="*/ 29 h 61"/>
              <a:gd name="T48" fmla="*/ 1 w 94"/>
              <a:gd name="T49" fmla="*/ 9 h 61"/>
              <a:gd name="T50" fmla="*/ 0 w 94"/>
              <a:gd name="T51" fmla="*/ 12 h 61"/>
              <a:gd name="T52" fmla="*/ 0 w 94"/>
              <a:gd name="T53" fmla="*/ 48 h 61"/>
              <a:gd name="T54" fmla="*/ 1 w 94"/>
              <a:gd name="T55" fmla="*/ 52 h 61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94"/>
              <a:gd name="T85" fmla="*/ 0 h 61"/>
              <a:gd name="T86" fmla="*/ 94 w 94"/>
              <a:gd name="T87" fmla="*/ 61 h 61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94" h="61">
                <a:moveTo>
                  <a:pt x="13" y="0"/>
                </a:moveTo>
                <a:cubicBezTo>
                  <a:pt x="82" y="0"/>
                  <a:pt x="82" y="0"/>
                  <a:pt x="82" y="0"/>
                </a:cubicBezTo>
                <a:cubicBezTo>
                  <a:pt x="84" y="0"/>
                  <a:pt x="87" y="1"/>
                  <a:pt x="89" y="2"/>
                </a:cubicBezTo>
                <a:cubicBezTo>
                  <a:pt x="47" y="33"/>
                  <a:pt x="47" y="33"/>
                  <a:pt x="47" y="33"/>
                </a:cubicBezTo>
                <a:cubicBezTo>
                  <a:pt x="6" y="2"/>
                  <a:pt x="6" y="2"/>
                  <a:pt x="6" y="2"/>
                </a:cubicBezTo>
                <a:cubicBezTo>
                  <a:pt x="8" y="1"/>
                  <a:pt x="10" y="0"/>
                  <a:pt x="13" y="0"/>
                </a:cubicBezTo>
                <a:close/>
                <a:moveTo>
                  <a:pt x="94" y="9"/>
                </a:moveTo>
                <a:cubicBezTo>
                  <a:pt x="67" y="29"/>
                  <a:pt x="67" y="29"/>
                  <a:pt x="67" y="29"/>
                </a:cubicBezTo>
                <a:cubicBezTo>
                  <a:pt x="93" y="53"/>
                  <a:pt x="93" y="53"/>
                  <a:pt x="93" y="53"/>
                </a:cubicBezTo>
                <a:cubicBezTo>
                  <a:pt x="94" y="52"/>
                  <a:pt x="94" y="50"/>
                  <a:pt x="94" y="48"/>
                </a:cubicBezTo>
                <a:cubicBezTo>
                  <a:pt x="94" y="12"/>
                  <a:pt x="94" y="12"/>
                  <a:pt x="94" y="12"/>
                </a:cubicBezTo>
                <a:cubicBezTo>
                  <a:pt x="94" y="11"/>
                  <a:pt x="94" y="10"/>
                  <a:pt x="94" y="9"/>
                </a:cubicBezTo>
                <a:close/>
                <a:moveTo>
                  <a:pt x="87" y="60"/>
                </a:moveTo>
                <a:cubicBezTo>
                  <a:pt x="85" y="60"/>
                  <a:pt x="84" y="61"/>
                  <a:pt x="82" y="61"/>
                </a:cubicBezTo>
                <a:cubicBezTo>
                  <a:pt x="13" y="61"/>
                  <a:pt x="13" y="61"/>
                  <a:pt x="13" y="61"/>
                </a:cubicBezTo>
                <a:cubicBezTo>
                  <a:pt x="10" y="61"/>
                  <a:pt x="8" y="60"/>
                  <a:pt x="6" y="59"/>
                </a:cubicBezTo>
                <a:cubicBezTo>
                  <a:pt x="34" y="34"/>
                  <a:pt x="34" y="34"/>
                  <a:pt x="34" y="34"/>
                </a:cubicBezTo>
                <a:cubicBezTo>
                  <a:pt x="44" y="42"/>
                  <a:pt x="44" y="42"/>
                  <a:pt x="44" y="42"/>
                </a:cubicBezTo>
                <a:cubicBezTo>
                  <a:pt x="47" y="44"/>
                  <a:pt x="47" y="44"/>
                  <a:pt x="47" y="44"/>
                </a:cubicBezTo>
                <a:cubicBezTo>
                  <a:pt x="50" y="42"/>
                  <a:pt x="50" y="42"/>
                  <a:pt x="50" y="42"/>
                </a:cubicBezTo>
                <a:cubicBezTo>
                  <a:pt x="60" y="35"/>
                  <a:pt x="60" y="35"/>
                  <a:pt x="60" y="35"/>
                </a:cubicBezTo>
                <a:cubicBezTo>
                  <a:pt x="87" y="60"/>
                  <a:pt x="87" y="60"/>
                  <a:pt x="87" y="60"/>
                </a:cubicBezTo>
                <a:close/>
                <a:moveTo>
                  <a:pt x="1" y="52"/>
                </a:moveTo>
                <a:cubicBezTo>
                  <a:pt x="27" y="29"/>
                  <a:pt x="27" y="29"/>
                  <a:pt x="27" y="29"/>
                </a:cubicBezTo>
                <a:cubicBezTo>
                  <a:pt x="1" y="9"/>
                  <a:pt x="1" y="9"/>
                  <a:pt x="1" y="9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9"/>
                  <a:pt x="0" y="51"/>
                  <a:pt x="1" y="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212" y="51218"/>
            <a:ext cx="1617521" cy="307557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5"/>
          <p:cNvCxnSpPr/>
          <p:nvPr/>
        </p:nvCxnSpPr>
        <p:spPr>
          <a:xfrm>
            <a:off x="377983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cxnSp>
        <p:nvCxnSpPr>
          <p:cNvPr id="3" name="直接箭头连接符 6"/>
          <p:cNvCxnSpPr/>
          <p:nvPr/>
        </p:nvCxnSpPr>
        <p:spPr>
          <a:xfrm>
            <a:off x="694213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cxnSp>
        <p:nvCxnSpPr>
          <p:cNvPr id="4" name="直接箭头连接符 7"/>
          <p:cNvCxnSpPr/>
          <p:nvPr/>
        </p:nvCxnSpPr>
        <p:spPr>
          <a:xfrm>
            <a:off x="219868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cxnSp>
        <p:nvCxnSpPr>
          <p:cNvPr id="5" name="直接箭头连接符 8"/>
          <p:cNvCxnSpPr/>
          <p:nvPr/>
        </p:nvCxnSpPr>
        <p:spPr>
          <a:xfrm>
            <a:off x="536098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sp>
        <p:nvSpPr>
          <p:cNvPr id="6" name="环形箭头 5"/>
          <p:cNvSpPr/>
          <p:nvPr/>
        </p:nvSpPr>
        <p:spPr>
          <a:xfrm flipH="1">
            <a:off x="1560513" y="1262063"/>
            <a:ext cx="1277938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 wrap="square"/>
          <a:lstStyle/>
          <a:p>
            <a:pPr algn="l"/>
            <a:r>
              <a:t>1 登录入队</a:t>
            </a:r>
          </a:p>
        </p:txBody>
      </p:sp>
      <p:sp>
        <p:nvSpPr>
          <p:cNvPr id="7" name="TextBox 31"/>
          <p:cNvSpPr txBox="1"/>
          <p:nvPr/>
        </p:nvSpPr>
        <p:spPr>
          <a:xfrm>
            <a:off x="1477963" y="3021013"/>
            <a:ext cx="1409700" cy="1084263"/>
          </a:xfrm>
          <a:prstGeom prst="rect">
            <a:avLst/>
          </a:prstGeom>
          <a:noFill/>
        </p:spPr>
        <p:txBody>
          <a:bodyPr lIns="68580" tIns="34290" rIns="68580" bIns="34290" wrap="square">
            <a:spAutoFit/>
          </a:bodyPr>
          <a:lstStyle/>
          <a:p>
            <a:pPr algn="l"/>
            <a:r>
              <a:rPr sz="1600"/>
              <a:t>登录后读取团队关系，支持建队与邀请码加入。</a:t>
            </a:r>
          </a:p>
        </p:txBody>
      </p:sp>
      <p:sp>
        <p:nvSpPr>
          <p:cNvPr id="8" name="环形箭头 7"/>
          <p:cNvSpPr/>
          <p:nvPr/>
        </p:nvSpPr>
        <p:spPr>
          <a:xfrm flipH="1">
            <a:off x="3141663" y="1262063"/>
            <a:ext cx="1277938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  <a:miter lim="800000"/>
          </a:ln>
          <a:effectLst/>
        </p:spPr>
        <p:txBody>
          <a:bodyPr wrap="square" lIns="68580" tIns="34290" rIns="68580" bIns="34290" anchor="ctr"/>
          <a:lstStyle/>
          <a:p>
            <a:pPr algn="l"/>
            <a:r>
              <a:t>2 配置连接器</a:t>
            </a:r>
          </a:p>
        </p:txBody>
      </p:sp>
      <p:sp>
        <p:nvSpPr>
          <p:cNvPr id="9" name="TextBox 31"/>
          <p:cNvSpPr txBox="1"/>
          <p:nvPr/>
        </p:nvSpPr>
        <p:spPr>
          <a:xfrm>
            <a:off x="3059113" y="3021013"/>
            <a:ext cx="1408113" cy="1044575"/>
          </a:xfrm>
          <a:prstGeom prst="rect">
            <a:avLst/>
          </a:prstGeom>
          <a:noFill/>
        </p:spPr>
        <p:txBody>
          <a:bodyPr lIns="68580" tIns="34290" rIns="68580" bIns="34290" wrap="square">
            <a:spAutoFit/>
          </a:bodyPr>
          <a:lstStyle/>
          <a:p>
            <a:pPr algn="l"/>
            <a:r>
              <a:rPr sz="1600"/>
              <a:t>录入模型 ID、API 地址与 Key，测试通过后设为当前运行时。</a:t>
            </a:r>
          </a:p>
        </p:txBody>
      </p:sp>
      <p:sp>
        <p:nvSpPr>
          <p:cNvPr id="10" name="环形箭头 9"/>
          <p:cNvSpPr/>
          <p:nvPr/>
        </p:nvSpPr>
        <p:spPr>
          <a:xfrm flipH="1">
            <a:off x="4722813" y="1262063"/>
            <a:ext cx="1276350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 wrap="square"/>
          <a:lstStyle/>
          <a:p>
            <a:pPr algn="l"/>
            <a:r>
              <a:t>3 创建并运行任务</a:t>
            </a:r>
          </a:p>
        </p:txBody>
      </p:sp>
      <p:sp>
        <p:nvSpPr>
          <p:cNvPr id="11" name="TextBox 31"/>
          <p:cNvSpPr txBox="1"/>
          <p:nvPr/>
        </p:nvSpPr>
        <p:spPr>
          <a:xfrm>
            <a:off x="4638675" y="3021013"/>
            <a:ext cx="1409700" cy="1044575"/>
          </a:xfrm>
          <a:prstGeom prst="rect">
            <a:avLst/>
          </a:prstGeom>
          <a:noFill/>
        </p:spPr>
        <p:txBody>
          <a:bodyPr lIns="68580" tIns="34290" rIns="68580" bIns="34290" wrap="square">
            <a:spAutoFit/>
          </a:bodyPr>
          <a:lstStyle/>
          <a:p>
            <a:pPr algn="l"/>
            <a:r>
              <a:rPr sz="1600"/>
              <a:t>上传 CSV 后先做 AI 解析，再触发 MLZero 运行。</a:t>
            </a:r>
          </a:p>
        </p:txBody>
      </p:sp>
      <p:sp>
        <p:nvSpPr>
          <p:cNvPr id="12" name="环形箭头 11"/>
          <p:cNvSpPr/>
          <p:nvPr/>
        </p:nvSpPr>
        <p:spPr>
          <a:xfrm flipH="1">
            <a:off x="6302375" y="1262063"/>
            <a:ext cx="1277938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 wrap="square"/>
          <a:lstStyle/>
          <a:p>
            <a:pPr algn="l"/>
            <a:r>
              <a:t>4 查看结果</a:t>
            </a:r>
          </a:p>
        </p:txBody>
      </p:sp>
      <p:sp>
        <p:nvSpPr>
          <p:cNvPr id="13" name="TextBox 31"/>
          <p:cNvSpPr txBox="1"/>
          <p:nvPr/>
        </p:nvSpPr>
        <p:spPr>
          <a:xfrm>
            <a:off x="6219825" y="3021013"/>
            <a:ext cx="1409700" cy="1044575"/>
          </a:xfrm>
          <a:prstGeom prst="rect">
            <a:avLst/>
          </a:prstGeom>
          <a:noFill/>
        </p:spPr>
        <p:txBody>
          <a:bodyPr lIns="68580" tIns="34290" rIns="68580" bIns="34290" wrap="square">
            <a:spAutoFit/>
          </a:bodyPr>
          <a:lstStyle/>
          <a:p>
            <a:pPr algn="l"/>
            <a:r>
              <a:rPr sz="1600"/>
              <a:t>展示指标、输出目录、AI 原始返回，以及团队级 / 任务级 Token 统计。</a:t>
            </a:r>
          </a:p>
        </p:txBody>
      </p:sp>
      <p:pic>
        <p:nvPicPr>
          <p:cNvPr id="47117" name="图片 1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文本框 14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当前系统闭环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212" y="51218"/>
            <a:ext cx="1617521" cy="307557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36"/>
          <p:cNvSpPr/>
          <p:nvPr/>
        </p:nvSpPr>
        <p:spPr>
          <a:xfrm>
            <a:off x="3878263" y="1122363"/>
            <a:ext cx="1374775" cy="1201738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bg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等腰三角形 36"/>
          <p:cNvSpPr/>
          <p:nvPr/>
        </p:nvSpPr>
        <p:spPr>
          <a:xfrm rot="7176392">
            <a:off x="4723606" y="2607469"/>
            <a:ext cx="1374775" cy="1201738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bg1">
                <a:alpha val="8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等腰三角形 36"/>
          <p:cNvSpPr/>
          <p:nvPr/>
        </p:nvSpPr>
        <p:spPr>
          <a:xfrm rot="14423608" flipH="1">
            <a:off x="2982119" y="2624931"/>
            <a:ext cx="1374775" cy="1201738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bg1">
                <a:alpha val="60000"/>
              </a:schemeClr>
            </a:solidFill>
            <a:headEnd type="triangle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24525" y="1895475"/>
            <a:ext cx="2579688" cy="1235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/>
              <a:t>01 认证协作</a:t>
            </a:r>
          </a:p>
          <a:p>
            <a:pPr algn="l"/>
            <a:r>
              <a:rPr sz="1800"/>
              <a:t>Supabase 账号体系、团队切换、成员查看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1895475"/>
            <a:ext cx="2581275" cy="1235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/>
              <a:t>02 连接器管理</a:t>
            </a:r>
          </a:p>
          <a:p>
            <a:pPr algn="l"/>
            <a:r>
              <a:rPr sz="1800"/>
              <a:t>录入 / 测试 / 激活 OpenAI-compatible 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1363" y="3598863"/>
            <a:ext cx="2581275" cy="1235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/>
              <a:t>03 结果与统计</a:t>
            </a:r>
          </a:p>
          <a:p>
            <a:pPr algn="l"/>
            <a:r>
              <a:rPr sz="1800"/>
              <a:t>AI 解析说明、MLZero 结果、Token 用量明细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54488" y="2095500"/>
            <a:ext cx="849312" cy="11477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160" name="图片 1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文本框 13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本周成果形式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212" y="51218"/>
            <a:ext cx="1617521" cy="307557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7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当前风险与待补强项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66725" y="1493838"/>
            <a:ext cx="1860550" cy="2217737"/>
            <a:chOff x="465977" y="1463280"/>
            <a:chExt cx="1862027" cy="2216942"/>
          </a:xfrm>
        </p:grpSpPr>
        <p:grpSp>
          <p:nvGrpSpPr>
            <p:cNvPr id="55300" name="组合 4"/>
            <p:cNvGrpSpPr/>
            <p:nvPr/>
          </p:nvGrpSpPr>
          <p:grpSpPr>
            <a:xfrm>
              <a:off x="465977" y="1463280"/>
              <a:ext cx="1862027" cy="2216942"/>
              <a:chOff x="1827008" y="2120901"/>
              <a:chExt cx="2298700" cy="2736849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1827008" y="2120901"/>
                <a:ext cx="2298700" cy="44471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1827008" y="2565614"/>
                <a:ext cx="2298700" cy="229213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303" name="文本框 5"/>
            <p:cNvSpPr txBox="1"/>
            <p:nvPr/>
          </p:nvSpPr>
          <p:spPr>
            <a:xfrm>
              <a:off x="771062" y="1484039"/>
              <a:ext cx="1251857" cy="3231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标题一</a:t>
              </a:r>
            </a:p>
          </p:txBody>
        </p:sp>
        <p:sp>
          <p:nvSpPr>
            <p:cNvPr id="55304" name="文本框 6"/>
            <p:cNvSpPr txBox="1"/>
            <p:nvPr/>
          </p:nvSpPr>
          <p:spPr>
            <a:xfrm>
              <a:off x="627430" y="2064064"/>
              <a:ext cx="1568516" cy="1200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您的内容打在这里或者通过复制您的文本后，在此框中选择粘贴，并选择只保留文字。您的内容打在这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582863" y="1493838"/>
            <a:ext cx="1862137" cy="2217737"/>
            <a:chOff x="2582650" y="1463280"/>
            <a:chExt cx="1862027" cy="2216942"/>
          </a:xfrm>
        </p:grpSpPr>
        <p:grpSp>
          <p:nvGrpSpPr>
            <p:cNvPr id="55306" name="组合 10"/>
            <p:cNvGrpSpPr/>
            <p:nvPr/>
          </p:nvGrpSpPr>
          <p:grpSpPr>
            <a:xfrm>
              <a:off x="2582650" y="1463280"/>
              <a:ext cx="1862027" cy="2216942"/>
              <a:chOff x="1827008" y="2120901"/>
              <a:chExt cx="2298700" cy="2736849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1827008" y="2120901"/>
                <a:ext cx="2298700" cy="44471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1827008" y="2565614"/>
                <a:ext cx="2298700" cy="229213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309" name="文本框 11"/>
            <p:cNvSpPr txBox="1"/>
            <p:nvPr/>
          </p:nvSpPr>
          <p:spPr>
            <a:xfrm>
              <a:off x="2887735" y="1484039"/>
              <a:ext cx="1251857" cy="3231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标题二</a:t>
              </a:r>
            </a:p>
          </p:txBody>
        </p:sp>
        <p:sp>
          <p:nvSpPr>
            <p:cNvPr id="55310" name="文本框 12"/>
            <p:cNvSpPr txBox="1"/>
            <p:nvPr/>
          </p:nvSpPr>
          <p:spPr>
            <a:xfrm>
              <a:off x="2729405" y="2064064"/>
              <a:ext cx="1568516" cy="1200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您的内容打在这里或者通过复制您的文本后，在此框中选择粘贴，并选择只保留文字。您的内容打在这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699000" y="1493838"/>
            <a:ext cx="1862138" cy="2217737"/>
            <a:chOff x="4699324" y="1463280"/>
            <a:chExt cx="1862027" cy="2216942"/>
          </a:xfrm>
        </p:grpSpPr>
        <p:grpSp>
          <p:nvGrpSpPr>
            <p:cNvPr id="55312" name="组合 16"/>
            <p:cNvGrpSpPr/>
            <p:nvPr/>
          </p:nvGrpSpPr>
          <p:grpSpPr>
            <a:xfrm>
              <a:off x="4699324" y="1463280"/>
              <a:ext cx="1862027" cy="2216942"/>
              <a:chOff x="1827008" y="2120901"/>
              <a:chExt cx="2298700" cy="2736849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1827008" y="2120901"/>
                <a:ext cx="2298700" cy="44471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1827008" y="2565614"/>
                <a:ext cx="2298700" cy="229213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315" name="文本框 17"/>
            <p:cNvSpPr txBox="1"/>
            <p:nvPr/>
          </p:nvSpPr>
          <p:spPr>
            <a:xfrm>
              <a:off x="5004409" y="1484039"/>
              <a:ext cx="1251857" cy="3231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标题三</a:t>
              </a:r>
            </a:p>
          </p:txBody>
        </p:sp>
        <p:sp>
          <p:nvSpPr>
            <p:cNvPr id="55316" name="文本框 18"/>
            <p:cNvSpPr txBox="1"/>
            <p:nvPr/>
          </p:nvSpPr>
          <p:spPr>
            <a:xfrm>
              <a:off x="4846079" y="2064064"/>
              <a:ext cx="1568516" cy="1200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您的内容打在这里或者通过复制您的文本后，在此框中选择粘贴，并选择只保留文字。您的内容打在这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816725" y="1493838"/>
            <a:ext cx="1860550" cy="2217737"/>
            <a:chOff x="6815997" y="1463280"/>
            <a:chExt cx="1862027" cy="2216942"/>
          </a:xfrm>
        </p:grpSpPr>
        <p:grpSp>
          <p:nvGrpSpPr>
            <p:cNvPr id="55318" name="组合 22"/>
            <p:cNvGrpSpPr/>
            <p:nvPr/>
          </p:nvGrpSpPr>
          <p:grpSpPr>
            <a:xfrm>
              <a:off x="6815997" y="1463280"/>
              <a:ext cx="1862027" cy="2216942"/>
              <a:chOff x="1827008" y="2120901"/>
              <a:chExt cx="2298700" cy="2736849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1827008" y="2120901"/>
                <a:ext cx="2298700" cy="44471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1827008" y="2565614"/>
                <a:ext cx="2298700" cy="229213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321" name="文本框 23"/>
            <p:cNvSpPr txBox="1"/>
            <p:nvPr/>
          </p:nvSpPr>
          <p:spPr>
            <a:xfrm>
              <a:off x="7121082" y="1484039"/>
              <a:ext cx="1251857" cy="3231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标题四</a:t>
              </a:r>
            </a:p>
          </p:txBody>
        </p:sp>
        <p:sp>
          <p:nvSpPr>
            <p:cNvPr id="55322" name="文本框 26"/>
            <p:cNvSpPr txBox="1"/>
            <p:nvPr/>
          </p:nvSpPr>
          <p:spPr>
            <a:xfrm>
              <a:off x="6962752" y="2064064"/>
              <a:ext cx="1568516" cy="1200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您的内容打在这里或者通过复制您的文本后，在此框中选择粘贴，并选择只保留文字。您的内容打在这</a:t>
              </a:r>
            </a:p>
          </p:txBody>
        </p:sp>
      </p:grpSp>
      <p:pic>
        <p:nvPicPr>
          <p:cNvPr id="30" name="图片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212" y="51218"/>
            <a:ext cx="1617521" cy="307557"/>
          </a:xfrm>
          <a:prstGeom prst="rect">
            <a:avLst/>
          </a:prstGeom>
        </p:spPr>
      </p:pic>
      <p:sp>
        <p:nvSpPr>
          <p:cNvPr id="55323" name="TextBox 55322"/>
          <p:cNvSpPr txBox="1"/>
          <p:nvPr/>
        </p:nvSpPr>
        <p:spPr>
          <a:xfrm>
            <a:off x="1097280" y="1645920"/>
            <a:ext cx="10058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>
                <a:solidFill>
                  <a:srgbClr val="363636"/>
                </a:solidFill>
              </a:rPr>
              <a:t>• 历史运行入口、结果报告摘要和代码导出 / 查看能力还没有完全补齐。</a:t>
            </a:r>
          </a:p>
          <a:p>
            <a:pPr algn="l"/>
            <a:r>
              <a:rPr sz="2100">
                <a:solidFill>
                  <a:srgbClr val="363636"/>
                </a:solidFill>
              </a:rPr>
              <a:t>• 管理员治理能力尚未完全展开，团队权限边界仍需继续细化。</a:t>
            </a:r>
          </a:p>
          <a:p>
            <a:pPr algn="l"/>
            <a:r>
              <a:rPr sz="2100">
                <a:solidFill>
                  <a:srgbClr val="363636"/>
                </a:solidFill>
              </a:rPr>
              <a:t>• 多数据集联调、失败场景覆盖和稳定性测试还需要继续推进。</a:t>
            </a:r>
          </a:p>
          <a:p>
            <a:pPr algn="l"/>
            <a:r>
              <a:rPr sz="2100">
                <a:solidFill>
                  <a:srgbClr val="363636"/>
                </a:solidFill>
              </a:rPr>
              <a:t>• 当前主链路已经可演示，但仍需继续做异常反馈、联调测试和材料收口。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3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下周工作计划</a:t>
            </a:r>
          </a:p>
        </p:txBody>
      </p:sp>
      <p:sp>
        <p:nvSpPr>
          <p:cNvPr id="66" name="Freeform 3"/>
          <p:cNvSpPr/>
          <p:nvPr/>
        </p:nvSpPr>
        <p:spPr bwMode="gray">
          <a:xfrm rot="19490962">
            <a:off x="2981325" y="2695575"/>
            <a:ext cx="1365250" cy="1649413"/>
          </a:xfrm>
          <a:custGeom>
            <a:avLst/>
            <a:gdLst>
              <a:gd name="T0" fmla="*/ 1219 w 1921"/>
              <a:gd name="T1" fmla="*/ 3 h 1516"/>
              <a:gd name="T2" fmla="*/ 1047 w 1921"/>
              <a:gd name="T3" fmla="*/ 20 h 1516"/>
              <a:gd name="T4" fmla="*/ 900 w 1921"/>
              <a:gd name="T5" fmla="*/ 43 h 1516"/>
              <a:gd name="T6" fmla="*/ 763 w 1921"/>
              <a:gd name="T7" fmla="*/ 76 h 1516"/>
              <a:gd name="T8" fmla="*/ 593 w 1921"/>
              <a:gd name="T9" fmla="*/ 128 h 1516"/>
              <a:gd name="T10" fmla="*/ 449 w 1921"/>
              <a:gd name="T11" fmla="*/ 187 h 1516"/>
              <a:gd name="T12" fmla="*/ 345 w 1921"/>
              <a:gd name="T13" fmla="*/ 244 h 1516"/>
              <a:gd name="T14" fmla="*/ 261 w 1921"/>
              <a:gd name="T15" fmla="*/ 301 h 1516"/>
              <a:gd name="T16" fmla="*/ 184 w 1921"/>
              <a:gd name="T17" fmla="*/ 366 h 1516"/>
              <a:gd name="T18" fmla="*/ 118 w 1921"/>
              <a:gd name="T19" fmla="*/ 431 h 1516"/>
              <a:gd name="T20" fmla="*/ 58 w 1921"/>
              <a:gd name="T21" fmla="*/ 516 h 1516"/>
              <a:gd name="T22" fmla="*/ 21 w 1921"/>
              <a:gd name="T23" fmla="*/ 594 h 1516"/>
              <a:gd name="T24" fmla="*/ 0 w 1921"/>
              <a:gd name="T25" fmla="*/ 695 h 1516"/>
              <a:gd name="T26" fmla="*/ 14 w 1921"/>
              <a:gd name="T27" fmla="*/ 785 h 1516"/>
              <a:gd name="T28" fmla="*/ 47 w 1921"/>
              <a:gd name="T29" fmla="*/ 872 h 1516"/>
              <a:gd name="T30" fmla="*/ 92 w 1921"/>
              <a:gd name="T31" fmla="*/ 946 h 1516"/>
              <a:gd name="T32" fmla="*/ 179 w 1921"/>
              <a:gd name="T33" fmla="*/ 1041 h 1516"/>
              <a:gd name="T34" fmla="*/ 271 w 1921"/>
              <a:gd name="T35" fmla="*/ 1115 h 1516"/>
              <a:gd name="T36" fmla="*/ 377 w 1921"/>
              <a:gd name="T37" fmla="*/ 1176 h 1516"/>
              <a:gd name="T38" fmla="*/ 512 w 1921"/>
              <a:gd name="T39" fmla="*/ 1244 h 1516"/>
              <a:gd name="T40" fmla="*/ 667 w 1921"/>
              <a:gd name="T41" fmla="*/ 1302 h 1516"/>
              <a:gd name="T42" fmla="*/ 978 w 1921"/>
              <a:gd name="T43" fmla="*/ 1373 h 1516"/>
              <a:gd name="T44" fmla="*/ 1248 w 1921"/>
              <a:gd name="T45" fmla="*/ 1403 h 1516"/>
              <a:gd name="T46" fmla="*/ 1403 w 1921"/>
              <a:gd name="T47" fmla="*/ 1515 h 1516"/>
              <a:gd name="T48" fmla="*/ 1397 w 1921"/>
              <a:gd name="T49" fmla="*/ 1031 h 1516"/>
              <a:gd name="T50" fmla="*/ 1243 w 1921"/>
              <a:gd name="T51" fmla="*/ 1132 h 1516"/>
              <a:gd name="T52" fmla="*/ 1007 w 1921"/>
              <a:gd name="T53" fmla="*/ 1098 h 1516"/>
              <a:gd name="T54" fmla="*/ 757 w 1921"/>
              <a:gd name="T55" fmla="*/ 1025 h 1516"/>
              <a:gd name="T56" fmla="*/ 619 w 1921"/>
              <a:gd name="T57" fmla="*/ 957 h 1516"/>
              <a:gd name="T58" fmla="*/ 506 w 1921"/>
              <a:gd name="T59" fmla="*/ 888 h 1516"/>
              <a:gd name="T60" fmla="*/ 417 w 1921"/>
              <a:gd name="T61" fmla="*/ 806 h 1516"/>
              <a:gd name="T62" fmla="*/ 348 w 1921"/>
              <a:gd name="T63" fmla="*/ 708 h 1516"/>
              <a:gd name="T64" fmla="*/ 319 w 1921"/>
              <a:gd name="T65" fmla="*/ 610 h 1516"/>
              <a:gd name="T66" fmla="*/ 321 w 1921"/>
              <a:gd name="T67" fmla="*/ 522 h 1516"/>
              <a:gd name="T68" fmla="*/ 348 w 1921"/>
              <a:gd name="T69" fmla="*/ 437 h 1516"/>
              <a:gd name="T70" fmla="*/ 401 w 1921"/>
              <a:gd name="T71" fmla="*/ 351 h 1516"/>
              <a:gd name="T72" fmla="*/ 509 w 1921"/>
              <a:gd name="T73" fmla="*/ 251 h 1516"/>
              <a:gd name="T74" fmla="*/ 643 w 1921"/>
              <a:gd name="T75" fmla="*/ 169 h 1516"/>
              <a:gd name="T76" fmla="*/ 778 w 1921"/>
              <a:gd name="T77" fmla="*/ 110 h 1516"/>
              <a:gd name="T78" fmla="*/ 913 w 1921"/>
              <a:gd name="T79" fmla="*/ 68 h 1516"/>
              <a:gd name="T80" fmla="*/ 1021 w 1921"/>
              <a:gd name="T81" fmla="*/ 42 h 1516"/>
              <a:gd name="T82" fmla="*/ 1150 w 1921"/>
              <a:gd name="T83" fmla="*/ 25 h 1516"/>
              <a:gd name="T84" fmla="*/ 1446 w 1921"/>
              <a:gd name="T85" fmla="*/ 0 h 1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21" h="1516">
                <a:moveTo>
                  <a:pt x="1446" y="0"/>
                </a:moveTo>
                <a:lnTo>
                  <a:pt x="1219" y="3"/>
                </a:lnTo>
                <a:lnTo>
                  <a:pt x="1142" y="9"/>
                </a:lnTo>
                <a:lnTo>
                  <a:pt x="1047" y="20"/>
                </a:lnTo>
                <a:lnTo>
                  <a:pt x="974" y="29"/>
                </a:lnTo>
                <a:lnTo>
                  <a:pt x="900" y="43"/>
                </a:lnTo>
                <a:lnTo>
                  <a:pt x="828" y="59"/>
                </a:lnTo>
                <a:lnTo>
                  <a:pt x="763" y="76"/>
                </a:lnTo>
                <a:lnTo>
                  <a:pt x="686" y="97"/>
                </a:lnTo>
                <a:lnTo>
                  <a:pt x="593" y="128"/>
                </a:lnTo>
                <a:lnTo>
                  <a:pt x="520" y="156"/>
                </a:lnTo>
                <a:lnTo>
                  <a:pt x="449" y="187"/>
                </a:lnTo>
                <a:lnTo>
                  <a:pt x="401" y="213"/>
                </a:lnTo>
                <a:lnTo>
                  <a:pt x="345" y="244"/>
                </a:lnTo>
                <a:lnTo>
                  <a:pt x="304" y="268"/>
                </a:lnTo>
                <a:lnTo>
                  <a:pt x="261" y="301"/>
                </a:lnTo>
                <a:lnTo>
                  <a:pt x="222" y="332"/>
                </a:lnTo>
                <a:lnTo>
                  <a:pt x="184" y="366"/>
                </a:lnTo>
                <a:lnTo>
                  <a:pt x="155" y="393"/>
                </a:lnTo>
                <a:lnTo>
                  <a:pt x="118" y="431"/>
                </a:lnTo>
                <a:lnTo>
                  <a:pt x="82" y="474"/>
                </a:lnTo>
                <a:lnTo>
                  <a:pt x="58" y="516"/>
                </a:lnTo>
                <a:lnTo>
                  <a:pt x="39" y="552"/>
                </a:lnTo>
                <a:lnTo>
                  <a:pt x="21" y="594"/>
                </a:lnTo>
                <a:lnTo>
                  <a:pt x="6" y="638"/>
                </a:lnTo>
                <a:lnTo>
                  <a:pt x="0" y="695"/>
                </a:lnTo>
                <a:lnTo>
                  <a:pt x="5" y="744"/>
                </a:lnTo>
                <a:lnTo>
                  <a:pt x="14" y="785"/>
                </a:lnTo>
                <a:lnTo>
                  <a:pt x="26" y="826"/>
                </a:lnTo>
                <a:lnTo>
                  <a:pt x="47" y="872"/>
                </a:lnTo>
                <a:lnTo>
                  <a:pt x="66" y="911"/>
                </a:lnTo>
                <a:lnTo>
                  <a:pt x="92" y="946"/>
                </a:lnTo>
                <a:lnTo>
                  <a:pt x="130" y="991"/>
                </a:lnTo>
                <a:lnTo>
                  <a:pt x="179" y="1041"/>
                </a:lnTo>
                <a:lnTo>
                  <a:pt x="229" y="1081"/>
                </a:lnTo>
                <a:lnTo>
                  <a:pt x="271" y="1115"/>
                </a:lnTo>
                <a:lnTo>
                  <a:pt x="325" y="1149"/>
                </a:lnTo>
                <a:lnTo>
                  <a:pt x="377" y="1176"/>
                </a:lnTo>
                <a:lnTo>
                  <a:pt x="437" y="1207"/>
                </a:lnTo>
                <a:lnTo>
                  <a:pt x="512" y="1244"/>
                </a:lnTo>
                <a:lnTo>
                  <a:pt x="585" y="1271"/>
                </a:lnTo>
                <a:lnTo>
                  <a:pt x="667" y="1302"/>
                </a:lnTo>
                <a:lnTo>
                  <a:pt x="836" y="1346"/>
                </a:lnTo>
                <a:lnTo>
                  <a:pt x="978" y="1373"/>
                </a:lnTo>
                <a:lnTo>
                  <a:pt x="1128" y="1393"/>
                </a:lnTo>
                <a:lnTo>
                  <a:pt x="1248" y="1403"/>
                </a:lnTo>
                <a:lnTo>
                  <a:pt x="1403" y="1410"/>
                </a:lnTo>
                <a:lnTo>
                  <a:pt x="1403" y="1515"/>
                </a:lnTo>
                <a:lnTo>
                  <a:pt x="1920" y="1275"/>
                </a:lnTo>
                <a:lnTo>
                  <a:pt x="1397" y="1031"/>
                </a:lnTo>
                <a:lnTo>
                  <a:pt x="1398" y="1139"/>
                </a:lnTo>
                <a:lnTo>
                  <a:pt x="1243" y="1132"/>
                </a:lnTo>
                <a:lnTo>
                  <a:pt x="1128" y="1119"/>
                </a:lnTo>
                <a:lnTo>
                  <a:pt x="1007" y="1098"/>
                </a:lnTo>
                <a:lnTo>
                  <a:pt x="836" y="1054"/>
                </a:lnTo>
                <a:lnTo>
                  <a:pt x="757" y="1025"/>
                </a:lnTo>
                <a:lnTo>
                  <a:pt x="681" y="993"/>
                </a:lnTo>
                <a:lnTo>
                  <a:pt x="619" y="957"/>
                </a:lnTo>
                <a:lnTo>
                  <a:pt x="556" y="922"/>
                </a:lnTo>
                <a:lnTo>
                  <a:pt x="506" y="888"/>
                </a:lnTo>
                <a:lnTo>
                  <a:pt x="464" y="850"/>
                </a:lnTo>
                <a:lnTo>
                  <a:pt x="417" y="806"/>
                </a:lnTo>
                <a:lnTo>
                  <a:pt x="377" y="755"/>
                </a:lnTo>
                <a:lnTo>
                  <a:pt x="348" y="708"/>
                </a:lnTo>
                <a:lnTo>
                  <a:pt x="333" y="664"/>
                </a:lnTo>
                <a:lnTo>
                  <a:pt x="319" y="610"/>
                </a:lnTo>
                <a:lnTo>
                  <a:pt x="317" y="558"/>
                </a:lnTo>
                <a:lnTo>
                  <a:pt x="321" y="522"/>
                </a:lnTo>
                <a:lnTo>
                  <a:pt x="329" y="483"/>
                </a:lnTo>
                <a:lnTo>
                  <a:pt x="348" y="437"/>
                </a:lnTo>
                <a:lnTo>
                  <a:pt x="372" y="393"/>
                </a:lnTo>
                <a:lnTo>
                  <a:pt x="401" y="351"/>
                </a:lnTo>
                <a:lnTo>
                  <a:pt x="440" y="310"/>
                </a:lnTo>
                <a:lnTo>
                  <a:pt x="509" y="251"/>
                </a:lnTo>
                <a:lnTo>
                  <a:pt x="567" y="211"/>
                </a:lnTo>
                <a:lnTo>
                  <a:pt x="643" y="169"/>
                </a:lnTo>
                <a:lnTo>
                  <a:pt x="720" y="133"/>
                </a:lnTo>
                <a:lnTo>
                  <a:pt x="778" y="110"/>
                </a:lnTo>
                <a:lnTo>
                  <a:pt x="847" y="86"/>
                </a:lnTo>
                <a:lnTo>
                  <a:pt x="913" y="68"/>
                </a:lnTo>
                <a:lnTo>
                  <a:pt x="966" y="54"/>
                </a:lnTo>
                <a:lnTo>
                  <a:pt x="1021" y="42"/>
                </a:lnTo>
                <a:lnTo>
                  <a:pt x="1089" y="32"/>
                </a:lnTo>
                <a:lnTo>
                  <a:pt x="1150" y="25"/>
                </a:lnTo>
                <a:lnTo>
                  <a:pt x="1234" y="15"/>
                </a:lnTo>
                <a:lnTo>
                  <a:pt x="1446" y="0"/>
                </a:lnTo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7" name="Freeform 4"/>
          <p:cNvSpPr/>
          <p:nvPr/>
        </p:nvSpPr>
        <p:spPr bwMode="gray">
          <a:xfrm rot="19490962" flipH="1" flipV="1">
            <a:off x="4479925" y="1046163"/>
            <a:ext cx="1363663" cy="1647825"/>
          </a:xfrm>
          <a:custGeom>
            <a:avLst/>
            <a:gdLst>
              <a:gd name="T0" fmla="*/ 1219 w 1921"/>
              <a:gd name="T1" fmla="*/ 3 h 1516"/>
              <a:gd name="T2" fmla="*/ 1047 w 1921"/>
              <a:gd name="T3" fmla="*/ 20 h 1516"/>
              <a:gd name="T4" fmla="*/ 900 w 1921"/>
              <a:gd name="T5" fmla="*/ 43 h 1516"/>
              <a:gd name="T6" fmla="*/ 763 w 1921"/>
              <a:gd name="T7" fmla="*/ 76 h 1516"/>
              <a:gd name="T8" fmla="*/ 593 w 1921"/>
              <a:gd name="T9" fmla="*/ 128 h 1516"/>
              <a:gd name="T10" fmla="*/ 449 w 1921"/>
              <a:gd name="T11" fmla="*/ 187 h 1516"/>
              <a:gd name="T12" fmla="*/ 345 w 1921"/>
              <a:gd name="T13" fmla="*/ 244 h 1516"/>
              <a:gd name="T14" fmla="*/ 261 w 1921"/>
              <a:gd name="T15" fmla="*/ 301 h 1516"/>
              <a:gd name="T16" fmla="*/ 184 w 1921"/>
              <a:gd name="T17" fmla="*/ 366 h 1516"/>
              <a:gd name="T18" fmla="*/ 118 w 1921"/>
              <a:gd name="T19" fmla="*/ 431 h 1516"/>
              <a:gd name="T20" fmla="*/ 58 w 1921"/>
              <a:gd name="T21" fmla="*/ 516 h 1516"/>
              <a:gd name="T22" fmla="*/ 21 w 1921"/>
              <a:gd name="T23" fmla="*/ 594 h 1516"/>
              <a:gd name="T24" fmla="*/ 0 w 1921"/>
              <a:gd name="T25" fmla="*/ 695 h 1516"/>
              <a:gd name="T26" fmla="*/ 14 w 1921"/>
              <a:gd name="T27" fmla="*/ 785 h 1516"/>
              <a:gd name="T28" fmla="*/ 47 w 1921"/>
              <a:gd name="T29" fmla="*/ 872 h 1516"/>
              <a:gd name="T30" fmla="*/ 92 w 1921"/>
              <a:gd name="T31" fmla="*/ 946 h 1516"/>
              <a:gd name="T32" fmla="*/ 179 w 1921"/>
              <a:gd name="T33" fmla="*/ 1041 h 1516"/>
              <a:gd name="T34" fmla="*/ 271 w 1921"/>
              <a:gd name="T35" fmla="*/ 1115 h 1516"/>
              <a:gd name="T36" fmla="*/ 377 w 1921"/>
              <a:gd name="T37" fmla="*/ 1176 h 1516"/>
              <a:gd name="T38" fmla="*/ 512 w 1921"/>
              <a:gd name="T39" fmla="*/ 1244 h 1516"/>
              <a:gd name="T40" fmla="*/ 667 w 1921"/>
              <a:gd name="T41" fmla="*/ 1302 h 1516"/>
              <a:gd name="T42" fmla="*/ 978 w 1921"/>
              <a:gd name="T43" fmla="*/ 1373 h 1516"/>
              <a:gd name="T44" fmla="*/ 1248 w 1921"/>
              <a:gd name="T45" fmla="*/ 1403 h 1516"/>
              <a:gd name="T46" fmla="*/ 1403 w 1921"/>
              <a:gd name="T47" fmla="*/ 1515 h 1516"/>
              <a:gd name="T48" fmla="*/ 1397 w 1921"/>
              <a:gd name="T49" fmla="*/ 1031 h 1516"/>
              <a:gd name="T50" fmla="*/ 1243 w 1921"/>
              <a:gd name="T51" fmla="*/ 1132 h 1516"/>
              <a:gd name="T52" fmla="*/ 1007 w 1921"/>
              <a:gd name="T53" fmla="*/ 1098 h 1516"/>
              <a:gd name="T54" fmla="*/ 757 w 1921"/>
              <a:gd name="T55" fmla="*/ 1025 h 1516"/>
              <a:gd name="T56" fmla="*/ 619 w 1921"/>
              <a:gd name="T57" fmla="*/ 957 h 1516"/>
              <a:gd name="T58" fmla="*/ 506 w 1921"/>
              <a:gd name="T59" fmla="*/ 888 h 1516"/>
              <a:gd name="T60" fmla="*/ 417 w 1921"/>
              <a:gd name="T61" fmla="*/ 806 h 1516"/>
              <a:gd name="T62" fmla="*/ 348 w 1921"/>
              <a:gd name="T63" fmla="*/ 708 h 1516"/>
              <a:gd name="T64" fmla="*/ 319 w 1921"/>
              <a:gd name="T65" fmla="*/ 610 h 1516"/>
              <a:gd name="T66" fmla="*/ 321 w 1921"/>
              <a:gd name="T67" fmla="*/ 522 h 1516"/>
              <a:gd name="T68" fmla="*/ 348 w 1921"/>
              <a:gd name="T69" fmla="*/ 437 h 1516"/>
              <a:gd name="T70" fmla="*/ 401 w 1921"/>
              <a:gd name="T71" fmla="*/ 351 h 1516"/>
              <a:gd name="T72" fmla="*/ 509 w 1921"/>
              <a:gd name="T73" fmla="*/ 251 h 1516"/>
              <a:gd name="T74" fmla="*/ 643 w 1921"/>
              <a:gd name="T75" fmla="*/ 169 h 1516"/>
              <a:gd name="T76" fmla="*/ 778 w 1921"/>
              <a:gd name="T77" fmla="*/ 110 h 1516"/>
              <a:gd name="T78" fmla="*/ 913 w 1921"/>
              <a:gd name="T79" fmla="*/ 68 h 1516"/>
              <a:gd name="T80" fmla="*/ 1021 w 1921"/>
              <a:gd name="T81" fmla="*/ 42 h 1516"/>
              <a:gd name="T82" fmla="*/ 1150 w 1921"/>
              <a:gd name="T83" fmla="*/ 25 h 1516"/>
              <a:gd name="T84" fmla="*/ 1446 w 1921"/>
              <a:gd name="T85" fmla="*/ 0 h 1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21" h="1516">
                <a:moveTo>
                  <a:pt x="1446" y="0"/>
                </a:moveTo>
                <a:lnTo>
                  <a:pt x="1219" y="3"/>
                </a:lnTo>
                <a:lnTo>
                  <a:pt x="1142" y="9"/>
                </a:lnTo>
                <a:lnTo>
                  <a:pt x="1047" y="20"/>
                </a:lnTo>
                <a:lnTo>
                  <a:pt x="974" y="29"/>
                </a:lnTo>
                <a:lnTo>
                  <a:pt x="900" y="43"/>
                </a:lnTo>
                <a:lnTo>
                  <a:pt x="828" y="59"/>
                </a:lnTo>
                <a:lnTo>
                  <a:pt x="763" y="76"/>
                </a:lnTo>
                <a:lnTo>
                  <a:pt x="686" y="97"/>
                </a:lnTo>
                <a:lnTo>
                  <a:pt x="593" y="128"/>
                </a:lnTo>
                <a:lnTo>
                  <a:pt x="520" y="156"/>
                </a:lnTo>
                <a:lnTo>
                  <a:pt x="449" y="187"/>
                </a:lnTo>
                <a:lnTo>
                  <a:pt x="401" y="213"/>
                </a:lnTo>
                <a:lnTo>
                  <a:pt x="345" y="244"/>
                </a:lnTo>
                <a:lnTo>
                  <a:pt x="304" y="268"/>
                </a:lnTo>
                <a:lnTo>
                  <a:pt x="261" y="301"/>
                </a:lnTo>
                <a:lnTo>
                  <a:pt x="222" y="332"/>
                </a:lnTo>
                <a:lnTo>
                  <a:pt x="184" y="366"/>
                </a:lnTo>
                <a:lnTo>
                  <a:pt x="155" y="393"/>
                </a:lnTo>
                <a:lnTo>
                  <a:pt x="118" y="431"/>
                </a:lnTo>
                <a:lnTo>
                  <a:pt x="82" y="474"/>
                </a:lnTo>
                <a:lnTo>
                  <a:pt x="58" y="516"/>
                </a:lnTo>
                <a:lnTo>
                  <a:pt x="39" y="552"/>
                </a:lnTo>
                <a:lnTo>
                  <a:pt x="21" y="594"/>
                </a:lnTo>
                <a:lnTo>
                  <a:pt x="6" y="638"/>
                </a:lnTo>
                <a:lnTo>
                  <a:pt x="0" y="695"/>
                </a:lnTo>
                <a:lnTo>
                  <a:pt x="5" y="744"/>
                </a:lnTo>
                <a:lnTo>
                  <a:pt x="14" y="785"/>
                </a:lnTo>
                <a:lnTo>
                  <a:pt x="26" y="826"/>
                </a:lnTo>
                <a:lnTo>
                  <a:pt x="47" y="872"/>
                </a:lnTo>
                <a:lnTo>
                  <a:pt x="66" y="911"/>
                </a:lnTo>
                <a:lnTo>
                  <a:pt x="92" y="946"/>
                </a:lnTo>
                <a:lnTo>
                  <a:pt x="130" y="991"/>
                </a:lnTo>
                <a:lnTo>
                  <a:pt x="179" y="1041"/>
                </a:lnTo>
                <a:lnTo>
                  <a:pt x="229" y="1081"/>
                </a:lnTo>
                <a:lnTo>
                  <a:pt x="271" y="1115"/>
                </a:lnTo>
                <a:lnTo>
                  <a:pt x="325" y="1149"/>
                </a:lnTo>
                <a:lnTo>
                  <a:pt x="377" y="1176"/>
                </a:lnTo>
                <a:lnTo>
                  <a:pt x="437" y="1207"/>
                </a:lnTo>
                <a:lnTo>
                  <a:pt x="512" y="1244"/>
                </a:lnTo>
                <a:lnTo>
                  <a:pt x="585" y="1271"/>
                </a:lnTo>
                <a:lnTo>
                  <a:pt x="667" y="1302"/>
                </a:lnTo>
                <a:lnTo>
                  <a:pt x="836" y="1346"/>
                </a:lnTo>
                <a:lnTo>
                  <a:pt x="978" y="1373"/>
                </a:lnTo>
                <a:lnTo>
                  <a:pt x="1128" y="1393"/>
                </a:lnTo>
                <a:lnTo>
                  <a:pt x="1248" y="1403"/>
                </a:lnTo>
                <a:lnTo>
                  <a:pt x="1403" y="1410"/>
                </a:lnTo>
                <a:lnTo>
                  <a:pt x="1403" y="1515"/>
                </a:lnTo>
                <a:lnTo>
                  <a:pt x="1920" y="1275"/>
                </a:lnTo>
                <a:lnTo>
                  <a:pt x="1397" y="1031"/>
                </a:lnTo>
                <a:lnTo>
                  <a:pt x="1398" y="1139"/>
                </a:lnTo>
                <a:lnTo>
                  <a:pt x="1243" y="1132"/>
                </a:lnTo>
                <a:lnTo>
                  <a:pt x="1128" y="1119"/>
                </a:lnTo>
                <a:lnTo>
                  <a:pt x="1007" y="1098"/>
                </a:lnTo>
                <a:lnTo>
                  <a:pt x="836" y="1054"/>
                </a:lnTo>
                <a:lnTo>
                  <a:pt x="757" y="1025"/>
                </a:lnTo>
                <a:lnTo>
                  <a:pt x="681" y="993"/>
                </a:lnTo>
                <a:lnTo>
                  <a:pt x="619" y="957"/>
                </a:lnTo>
                <a:lnTo>
                  <a:pt x="556" y="922"/>
                </a:lnTo>
                <a:lnTo>
                  <a:pt x="506" y="888"/>
                </a:lnTo>
                <a:lnTo>
                  <a:pt x="464" y="850"/>
                </a:lnTo>
                <a:lnTo>
                  <a:pt x="417" y="806"/>
                </a:lnTo>
                <a:lnTo>
                  <a:pt x="377" y="755"/>
                </a:lnTo>
                <a:lnTo>
                  <a:pt x="348" y="708"/>
                </a:lnTo>
                <a:lnTo>
                  <a:pt x="333" y="664"/>
                </a:lnTo>
                <a:lnTo>
                  <a:pt x="319" y="610"/>
                </a:lnTo>
                <a:lnTo>
                  <a:pt x="317" y="558"/>
                </a:lnTo>
                <a:lnTo>
                  <a:pt x="321" y="522"/>
                </a:lnTo>
                <a:lnTo>
                  <a:pt x="329" y="483"/>
                </a:lnTo>
                <a:lnTo>
                  <a:pt x="348" y="437"/>
                </a:lnTo>
                <a:lnTo>
                  <a:pt x="372" y="393"/>
                </a:lnTo>
                <a:lnTo>
                  <a:pt x="401" y="351"/>
                </a:lnTo>
                <a:lnTo>
                  <a:pt x="440" y="310"/>
                </a:lnTo>
                <a:lnTo>
                  <a:pt x="509" y="251"/>
                </a:lnTo>
                <a:lnTo>
                  <a:pt x="567" y="211"/>
                </a:lnTo>
                <a:lnTo>
                  <a:pt x="643" y="169"/>
                </a:lnTo>
                <a:lnTo>
                  <a:pt x="720" y="133"/>
                </a:lnTo>
                <a:lnTo>
                  <a:pt x="778" y="110"/>
                </a:lnTo>
                <a:lnTo>
                  <a:pt x="847" y="86"/>
                </a:lnTo>
                <a:lnTo>
                  <a:pt x="913" y="68"/>
                </a:lnTo>
                <a:lnTo>
                  <a:pt x="966" y="54"/>
                </a:lnTo>
                <a:lnTo>
                  <a:pt x="1021" y="42"/>
                </a:lnTo>
                <a:lnTo>
                  <a:pt x="1089" y="32"/>
                </a:lnTo>
                <a:lnTo>
                  <a:pt x="1150" y="25"/>
                </a:lnTo>
                <a:lnTo>
                  <a:pt x="1234" y="15"/>
                </a:lnTo>
                <a:lnTo>
                  <a:pt x="1446" y="0"/>
                </a:lnTo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8" name="Oval 5"/>
          <p:cNvSpPr>
            <a:spLocks noChangeArrowheads="1"/>
          </p:cNvSpPr>
          <p:nvPr/>
        </p:nvSpPr>
        <p:spPr bwMode="gray">
          <a:xfrm>
            <a:off x="3133725" y="1862138"/>
            <a:ext cx="1184275" cy="1182688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 wrap="square"/>
          <a:lstStyle/>
          <a:p>
            <a:pPr algn="l"/>
            <a:r>
              <a:t>核心任务</a:t>
            </a:r>
          </a:p>
        </p:txBody>
      </p:sp>
      <p:sp>
        <p:nvSpPr>
          <p:cNvPr id="69" name="Oval 6"/>
          <p:cNvSpPr>
            <a:spLocks noChangeArrowheads="1"/>
          </p:cNvSpPr>
          <p:nvPr/>
        </p:nvSpPr>
        <p:spPr bwMode="gray">
          <a:xfrm>
            <a:off x="4546600" y="2687638"/>
            <a:ext cx="1184275" cy="1182688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 wrap="square"/>
          <a:lstStyle/>
          <a:p>
            <a:pPr algn="l"/>
            <a:r>
              <a:t>时间安排</a:t>
            </a:r>
          </a:p>
        </p:txBody>
      </p:sp>
      <p:sp>
        <p:nvSpPr>
          <p:cNvPr id="70" name="TextBox 7"/>
          <p:cNvSpPr txBox="1"/>
          <p:nvPr/>
        </p:nvSpPr>
        <p:spPr>
          <a:xfrm>
            <a:off x="468313" y="1962150"/>
            <a:ext cx="2351088" cy="1197610"/>
          </a:xfrm>
          <a:prstGeom prst="rect">
            <a:avLst/>
          </a:prstGeom>
          <a:noFill/>
        </p:spPr>
        <p:txBody>
          <a:bodyPr lIns="91425" tIns="45712" rIns="91425" bIns="45712" wrap="square">
            <a:spAutoFit/>
          </a:bodyPr>
          <a:lstStyle/>
          <a:p>
            <a:pPr algn="l"/>
            <a:r>
              <a:rPr sz="1800"/>
              <a:t>• 补齐历史运行入口、结果报告摘要和代码导出 / 查看能力。</a:t>
            </a:r>
          </a:p>
          <a:p>
            <a:pPr algn="l"/>
            <a:r>
              <a:rPr sz="1800"/>
              <a:t>• 优化任务状态流转、失败重试和更细的过程可视化。</a:t>
            </a:r>
          </a:p>
          <a:p>
            <a:pPr algn="l"/>
            <a:r>
              <a:rPr sz="1800"/>
              <a:t>• 完善团队治理提示与权限边界说明。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469900" y="1400175"/>
            <a:ext cx="3300413" cy="461963"/>
            <a:chOff x="469900" y="1057571"/>
            <a:chExt cx="3299884" cy="461665"/>
          </a:xfrm>
        </p:grpSpPr>
        <p:sp>
          <p:nvSpPr>
            <p:cNvPr id="72" name="TextBox 6"/>
            <p:cNvSpPr txBox="1"/>
            <p:nvPr/>
          </p:nvSpPr>
          <p:spPr>
            <a:xfrm>
              <a:off x="554025" y="1057571"/>
              <a:ext cx="869811" cy="2982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2000" kern="1200" cap="none" spc="0" normalizeH="0" baseline="-300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</a:p>
          </p:txBody>
        </p:sp>
        <p:cxnSp>
          <p:nvCxnSpPr>
            <p:cNvPr id="73" name="直接连接符 72"/>
            <p:cNvCxnSpPr/>
            <p:nvPr/>
          </p:nvCxnSpPr>
          <p:spPr>
            <a:xfrm>
              <a:off x="469900" y="1519236"/>
              <a:ext cx="3299884" cy="0"/>
            </a:xfrm>
            <a:prstGeom prst="lin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4" name="TextBox 10"/>
          <p:cNvSpPr txBox="1"/>
          <p:nvPr/>
        </p:nvSpPr>
        <p:spPr>
          <a:xfrm>
            <a:off x="6169025" y="1995488"/>
            <a:ext cx="2454275" cy="1754188"/>
          </a:xfrm>
          <a:prstGeom prst="rect">
            <a:avLst/>
          </a:prstGeom>
          <a:noFill/>
        </p:spPr>
        <p:txBody>
          <a:bodyPr lIns="91425" tIns="45712" rIns="91425" bIns="45712" wrap="square">
            <a:spAutoFit/>
          </a:bodyPr>
          <a:lstStyle/>
          <a:p>
            <a:pPr algn="l"/>
            <a:r>
              <a:rPr sz="1800"/>
              <a:t>• 2026/05/01：收口历史产物与结果展示。</a:t>
            </a:r>
          </a:p>
          <a:p>
            <a:pPr algn="l"/>
            <a:r>
              <a:rPr sz="1800"/>
              <a:t>• 2026/05/02：补齐重试、过程展示与治理提示。</a:t>
            </a:r>
          </a:p>
          <a:p>
            <a:pPr algn="l"/>
            <a:r>
              <a:rPr sz="1800"/>
              <a:t>• 2026/05/03：完成多数据集联调测试并整理演示材料。</a:t>
            </a:r>
          </a:p>
        </p:txBody>
      </p:sp>
      <p:grpSp>
        <p:nvGrpSpPr>
          <p:cNvPr id="75" name="组合 74"/>
          <p:cNvGrpSpPr/>
          <p:nvPr/>
        </p:nvGrpSpPr>
        <p:grpSpPr>
          <a:xfrm>
            <a:off x="5257800" y="3870325"/>
            <a:ext cx="3441700" cy="333375"/>
            <a:chOff x="5257195" y="3528519"/>
            <a:chExt cx="3442305" cy="333179"/>
          </a:xfrm>
        </p:grpSpPr>
        <p:sp>
          <p:nvSpPr>
            <p:cNvPr id="76" name="TextBox 9"/>
            <p:cNvSpPr txBox="1"/>
            <p:nvPr/>
          </p:nvSpPr>
          <p:spPr>
            <a:xfrm>
              <a:off x="5976459" y="3563423"/>
              <a:ext cx="870103" cy="2982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2000" kern="1200" cap="none" spc="0" normalizeH="0" baseline="-300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</a:p>
          </p:txBody>
        </p:sp>
        <p:cxnSp>
          <p:nvCxnSpPr>
            <p:cNvPr id="77" name="直接连接符 76"/>
            <p:cNvCxnSpPr/>
            <p:nvPr/>
          </p:nvCxnSpPr>
          <p:spPr>
            <a:xfrm>
              <a:off x="5257195" y="3528519"/>
              <a:ext cx="3442305" cy="0"/>
            </a:xfrm>
            <a:prstGeom prst="lin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212" y="51218"/>
            <a:ext cx="1617521" cy="307557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/>
      <p:bldP spid="7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1"/>
          <p:cNvSpPr/>
          <p:nvPr/>
        </p:nvSpPr>
        <p:spPr bwMode="auto">
          <a:xfrm>
            <a:off x="1192213" y="1039813"/>
            <a:ext cx="1793875" cy="1798638"/>
          </a:xfrm>
          <a:custGeom>
            <a:avLst/>
            <a:gdLst>
              <a:gd name="T0" fmla="*/ 1665296 w 1321"/>
              <a:gd name="T1" fmla="*/ 360928 h 1322"/>
              <a:gd name="T2" fmla="*/ 1665296 w 1321"/>
              <a:gd name="T3" fmla="*/ 1667948 h 1322"/>
              <a:gd name="T4" fmla="*/ 360354 w 1321"/>
              <a:gd name="T5" fmla="*/ 1667948 h 1322"/>
              <a:gd name="T6" fmla="*/ 360354 w 1321"/>
              <a:gd name="T7" fmla="*/ 360928 h 1322"/>
              <a:gd name="T8" fmla="*/ 1665296 w 1321"/>
              <a:gd name="T9" fmla="*/ 360928 h 13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1" h="1322">
                <a:moveTo>
                  <a:pt x="1086" y="235"/>
                </a:moveTo>
                <a:cubicBezTo>
                  <a:pt x="1321" y="470"/>
                  <a:pt x="1321" y="851"/>
                  <a:pt x="1086" y="1086"/>
                </a:cubicBezTo>
                <a:cubicBezTo>
                  <a:pt x="851" y="1322"/>
                  <a:pt x="470" y="1322"/>
                  <a:pt x="235" y="1086"/>
                </a:cubicBezTo>
                <a:cubicBezTo>
                  <a:pt x="0" y="851"/>
                  <a:pt x="0" y="470"/>
                  <a:pt x="235" y="235"/>
                </a:cubicBezTo>
                <a:cubicBezTo>
                  <a:pt x="470" y="0"/>
                  <a:pt x="851" y="0"/>
                  <a:pt x="1086" y="235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30226" cap="flat">
            <a:noFill/>
            <a:prstDash val="solid"/>
            <a:miter lim="800000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reeform 52"/>
          <p:cNvSpPr/>
          <p:nvPr/>
        </p:nvSpPr>
        <p:spPr bwMode="auto">
          <a:xfrm>
            <a:off x="1585913" y="2471738"/>
            <a:ext cx="1795463" cy="1798638"/>
          </a:xfrm>
          <a:custGeom>
            <a:avLst/>
            <a:gdLst>
              <a:gd name="T0" fmla="*/ 1665296 w 1321"/>
              <a:gd name="T1" fmla="*/ 360919 h 1321"/>
              <a:gd name="T2" fmla="*/ 1665296 w 1321"/>
              <a:gd name="T3" fmla="*/ 1667906 h 1321"/>
              <a:gd name="T4" fmla="*/ 360354 w 1321"/>
              <a:gd name="T5" fmla="*/ 1667906 h 1321"/>
              <a:gd name="T6" fmla="*/ 360354 w 1321"/>
              <a:gd name="T7" fmla="*/ 360919 h 1321"/>
              <a:gd name="T8" fmla="*/ 1665296 w 1321"/>
              <a:gd name="T9" fmla="*/ 360919 h 13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1" h="1321">
                <a:moveTo>
                  <a:pt x="1086" y="235"/>
                </a:moveTo>
                <a:cubicBezTo>
                  <a:pt x="1321" y="470"/>
                  <a:pt x="1321" y="851"/>
                  <a:pt x="1086" y="1086"/>
                </a:cubicBezTo>
                <a:cubicBezTo>
                  <a:pt x="851" y="1321"/>
                  <a:pt x="470" y="1321"/>
                  <a:pt x="235" y="1086"/>
                </a:cubicBezTo>
                <a:cubicBezTo>
                  <a:pt x="0" y="851"/>
                  <a:pt x="0" y="470"/>
                  <a:pt x="235" y="235"/>
                </a:cubicBezTo>
                <a:cubicBezTo>
                  <a:pt x="470" y="0"/>
                  <a:pt x="851" y="0"/>
                  <a:pt x="1086" y="235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30226" cap="flat">
            <a:noFill/>
            <a:prstDash val="solid"/>
            <a:miter lim="800000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reeform 53"/>
          <p:cNvSpPr/>
          <p:nvPr/>
        </p:nvSpPr>
        <p:spPr bwMode="auto">
          <a:xfrm>
            <a:off x="2625725" y="1428750"/>
            <a:ext cx="1795463" cy="1797050"/>
          </a:xfrm>
          <a:custGeom>
            <a:avLst/>
            <a:gdLst>
              <a:gd name="T0" fmla="*/ 1666873 w 1322"/>
              <a:gd name="T1" fmla="*/ 360919 h 1321"/>
              <a:gd name="T2" fmla="*/ 1666873 w 1322"/>
              <a:gd name="T3" fmla="*/ 1667906 h 1321"/>
              <a:gd name="T4" fmla="*/ 360364 w 1322"/>
              <a:gd name="T5" fmla="*/ 1667906 h 1321"/>
              <a:gd name="T6" fmla="*/ 360364 w 1322"/>
              <a:gd name="T7" fmla="*/ 360919 h 1321"/>
              <a:gd name="T8" fmla="*/ 1666873 w 1322"/>
              <a:gd name="T9" fmla="*/ 360919 h 13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2" h="1321">
                <a:moveTo>
                  <a:pt x="1087" y="235"/>
                </a:moveTo>
                <a:cubicBezTo>
                  <a:pt x="1322" y="470"/>
                  <a:pt x="1322" y="851"/>
                  <a:pt x="1087" y="1086"/>
                </a:cubicBezTo>
                <a:cubicBezTo>
                  <a:pt x="852" y="1321"/>
                  <a:pt x="471" y="1321"/>
                  <a:pt x="235" y="1086"/>
                </a:cubicBezTo>
                <a:cubicBezTo>
                  <a:pt x="0" y="851"/>
                  <a:pt x="0" y="470"/>
                  <a:pt x="235" y="235"/>
                </a:cubicBezTo>
                <a:cubicBezTo>
                  <a:pt x="471" y="0"/>
                  <a:pt x="852" y="0"/>
                  <a:pt x="1087" y="235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30226" cap="flat">
            <a:noFill/>
            <a:prstDash val="solid"/>
            <a:miter lim="800000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Text Box 57"/>
          <p:cNvSpPr txBox="1">
            <a:spLocks noChangeArrowheads="1"/>
          </p:cNvSpPr>
          <p:nvPr/>
        </p:nvSpPr>
        <p:spPr bwMode="auto">
          <a:xfrm>
            <a:off x="3213100" y="1751013"/>
            <a:ext cx="7112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t>100%</a:t>
            </a:r>
          </a:p>
        </p:txBody>
      </p:sp>
      <p:sp>
        <p:nvSpPr>
          <p:cNvPr id="7" name="Text Box 58"/>
          <p:cNvSpPr txBox="1">
            <a:spLocks noChangeArrowheads="1"/>
          </p:cNvSpPr>
          <p:nvPr/>
        </p:nvSpPr>
        <p:spPr bwMode="auto">
          <a:xfrm>
            <a:off x="1708150" y="1376363"/>
            <a:ext cx="7112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t>100%</a:t>
            </a:r>
          </a:p>
        </p:txBody>
      </p:sp>
      <p:sp>
        <p:nvSpPr>
          <p:cNvPr id="8" name="Text Box 59"/>
          <p:cNvSpPr txBox="1">
            <a:spLocks noChangeArrowheads="1"/>
          </p:cNvSpPr>
          <p:nvPr/>
        </p:nvSpPr>
        <p:spPr bwMode="auto">
          <a:xfrm>
            <a:off x="2076450" y="2949575"/>
            <a:ext cx="7112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t>70%</a:t>
            </a: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1995488" y="3400425"/>
            <a:ext cx="1031875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sz="1600"/>
              <a:t>团队认证与协作</a:t>
            </a:r>
          </a:p>
          <a:p>
            <a:pPr algn="l"/>
            <a:r>
              <a:rPr sz="1600"/>
              <a:t>注册登录、建队、邀请码加入、成员关系读取</a:t>
            </a:r>
          </a:p>
        </p:txBody>
      </p:sp>
      <p:sp>
        <p:nvSpPr>
          <p:cNvPr id="10" name="Rectangle 62"/>
          <p:cNvSpPr>
            <a:spLocks noChangeArrowheads="1"/>
          </p:cNvSpPr>
          <p:nvPr/>
        </p:nvSpPr>
        <p:spPr bwMode="auto">
          <a:xfrm>
            <a:off x="3017838" y="2211388"/>
            <a:ext cx="1031875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sz="1600"/>
              <a:t>连接器运行时</a:t>
            </a:r>
          </a:p>
          <a:p>
            <a:pPr algn="l"/>
            <a:r>
              <a:rPr sz="1600"/>
              <a:t>录入、测试、激活与健康状态扩展</a:t>
            </a:r>
          </a:p>
        </p:txBody>
      </p:sp>
      <p:sp>
        <p:nvSpPr>
          <p:cNvPr id="11" name="Rectangle 63"/>
          <p:cNvSpPr>
            <a:spLocks noChangeArrowheads="1"/>
          </p:cNvSpPr>
          <p:nvPr/>
        </p:nvSpPr>
        <p:spPr bwMode="auto">
          <a:xfrm>
            <a:off x="1481138" y="1817688"/>
            <a:ext cx="103187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sz="1600"/>
              <a:t>历史产物补强</a:t>
            </a:r>
          </a:p>
          <a:p>
            <a:pPr algn="l"/>
            <a:r>
              <a:rPr sz="1600"/>
              <a:t>输出目录已保留，历史入口与代码导出继续完善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4870450" y="1031875"/>
            <a:ext cx="3562350" cy="889000"/>
            <a:chOff x="544923" y="2418093"/>
            <a:chExt cx="4750103" cy="1184940"/>
          </a:xfrm>
        </p:grpSpPr>
        <p:sp>
          <p:nvSpPr>
            <p:cNvPr id="13" name="矩形 12"/>
            <p:cNvSpPr/>
            <p:nvPr/>
          </p:nvSpPr>
          <p:spPr>
            <a:xfrm>
              <a:off x="544923" y="2788387"/>
              <a:ext cx="4750103" cy="81464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" name="文本框 26"/>
            <p:cNvSpPr txBox="1"/>
            <p:nvPr/>
          </p:nvSpPr>
          <p:spPr>
            <a:xfrm>
              <a:off x="544923" y="2418093"/>
              <a:ext cx="1443659" cy="4104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400" kern="1200" cap="none" spc="0" normalizeH="0" baseline="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添加标题一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870450" y="2162175"/>
            <a:ext cx="3562350" cy="889000"/>
            <a:chOff x="544923" y="2418093"/>
            <a:chExt cx="4750103" cy="1184940"/>
          </a:xfrm>
        </p:grpSpPr>
        <p:sp>
          <p:nvSpPr>
            <p:cNvPr id="16" name="矩形 15"/>
            <p:cNvSpPr/>
            <p:nvPr/>
          </p:nvSpPr>
          <p:spPr>
            <a:xfrm>
              <a:off x="544923" y="2788387"/>
              <a:ext cx="4750103" cy="81464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7" name="文本框 30"/>
            <p:cNvSpPr txBox="1"/>
            <p:nvPr/>
          </p:nvSpPr>
          <p:spPr>
            <a:xfrm>
              <a:off x="544923" y="2418093"/>
              <a:ext cx="1443659" cy="4104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400" kern="1200" cap="none" spc="0" normalizeH="0" baseline="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添加标题二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70450" y="3225800"/>
            <a:ext cx="3562350" cy="889000"/>
            <a:chOff x="544923" y="2418093"/>
            <a:chExt cx="4750103" cy="1184940"/>
          </a:xfrm>
        </p:grpSpPr>
        <p:sp>
          <p:nvSpPr>
            <p:cNvPr id="19" name="矩形 18"/>
            <p:cNvSpPr/>
            <p:nvPr/>
          </p:nvSpPr>
          <p:spPr>
            <a:xfrm>
              <a:off x="544923" y="2788387"/>
              <a:ext cx="4750103" cy="81464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" name="文本框 34"/>
            <p:cNvSpPr txBox="1"/>
            <p:nvPr/>
          </p:nvSpPr>
          <p:spPr>
            <a:xfrm>
              <a:off x="544923" y="2418093"/>
              <a:ext cx="1443659" cy="4104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400" kern="1200" cap="none" spc="0" normalizeH="0" baseline="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添加标题三</a:t>
              </a:r>
            </a:p>
          </p:txBody>
        </p:sp>
      </p:grpSp>
      <p:pic>
        <p:nvPicPr>
          <p:cNvPr id="61459" name="图片 2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文本框 21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本周关键任务完成度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212" y="51218"/>
            <a:ext cx="1617521" cy="307557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" dur="150" fill="hold"/>
                                        <p:tgtEl>
                                          <p:spTgt spid="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6" presetClass="emph" presetSubtype="0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6" dur="150" fill="hold"/>
                                        <p:tgtEl>
                                          <p:spTgt spid="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42" dur="150" fill="hold"/>
                                        <p:tgtEl>
                                          <p:spTgt spid="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7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阶段汇报</a:t>
            </a:r>
          </a:p>
        </p:txBody>
      </p:sp>
      <p:sp>
        <p:nvSpPr>
          <p:cNvPr id="4" name="矩形 3"/>
          <p:cNvSpPr/>
          <p:nvPr/>
        </p:nvSpPr>
        <p:spPr>
          <a:xfrm>
            <a:off x="2735263" y="866775"/>
            <a:ext cx="3957637" cy="1062038"/>
          </a:xfrm>
          <a:prstGeom prst="rect">
            <a:avLst/>
          </a:prstGeom>
          <a:noFill/>
          <a:ln w="9525"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t>THANKS!</a:t>
            </a:r>
          </a:p>
        </p:txBody>
      </p:sp>
      <p:sp>
        <p:nvSpPr>
          <p:cNvPr id="5" name="矩形 4"/>
          <p:cNvSpPr/>
          <p:nvPr/>
        </p:nvSpPr>
        <p:spPr>
          <a:xfrm>
            <a:off x="1145796" y="2375314"/>
            <a:ext cx="6435725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t>“智算”AI4ML 社区项目组</a:t>
            </a:r>
          </a:p>
        </p:txBody>
      </p:sp>
      <p:sp>
        <p:nvSpPr>
          <p:cNvPr id="6" name="矩形 5"/>
          <p:cNvSpPr/>
          <p:nvPr/>
        </p:nvSpPr>
        <p:spPr>
          <a:xfrm>
            <a:off x="3256342" y="3445290"/>
            <a:ext cx="3048000" cy="500062"/>
          </a:xfrm>
          <a:prstGeom prst="rect">
            <a:avLst/>
          </a:prstGeom>
          <a:noFill/>
          <a:ln w="9525"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sz="1800"/>
              <a:t>当前主链路已形成 Alpha 候选闭环，欢迎老师批评指正！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212" y="51218"/>
            <a:ext cx="1617521" cy="307557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16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7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8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9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1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</p:bldLst>
  </p:timing>
</p:sld>
</file>

<file path=ppt/theme/theme1.xml><?xml version="1.0" encoding="utf-8"?>
<a:theme xmlns:a="http://schemas.openxmlformats.org/drawingml/2006/main" name="1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方正正黑简体"/>
        <a:ea typeface="方正正黑简体"/>
        <a:cs typeface=""/>
      </a:majorFont>
      <a:minorFont>
        <a:latin typeface="方正正黑简体"/>
        <a:ea typeface="方正正黑简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2409</Words>
  <Application>Microsoft Office PowerPoint</Application>
  <PresentationFormat>全屏显示(16:9)</PresentationFormat>
  <Paragraphs>287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方正正纤黑简体</vt:lpstr>
      <vt:lpstr>FontAwesome</vt:lpstr>
      <vt:lpstr>Segoe UI Semilight</vt:lpstr>
      <vt:lpstr>Calibri</vt:lpstr>
      <vt:lpstr>方正正黑简体</vt:lpstr>
      <vt:lpstr>微软雅黑</vt:lpstr>
      <vt:lpstr>Arial</vt:lpstr>
      <vt:lpstr>宋体</vt:lpstr>
      <vt:lpstr>TeXGyreAdventor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subject>1</dc:subject>
  <dc:creator/>
  <dc:description>1</dc:description>
  <cp:lastModifiedBy>Administrator</cp:lastModifiedBy>
  <cp:revision>6</cp:revision>
  <dcterms:created xsi:type="dcterms:W3CDTF">2015-03-31T05:49:00Z</dcterms:created>
  <dcterms:modified xsi:type="dcterms:W3CDTF">2019-07-11T05:42:43Z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2052-10.1.0.6877</vt:lpwstr>
  </property>
</Properties>
</file>